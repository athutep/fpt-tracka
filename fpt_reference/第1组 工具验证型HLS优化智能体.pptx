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72" r:id="rId3"/>
    <p:sldId id="849" r:id="rId5"/>
    <p:sldId id="816" r:id="rId6"/>
    <p:sldId id="789" r:id="rId7"/>
    <p:sldId id="896" r:id="rId8"/>
    <p:sldId id="799" r:id="rId9"/>
    <p:sldId id="901" r:id="rId10"/>
    <p:sldId id="903" r:id="rId11"/>
    <p:sldId id="902" r:id="rId12"/>
    <p:sldId id="8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A"/>
    <a:srgbClr val="385723"/>
    <a:srgbClr val="35562A"/>
    <a:srgbClr val="F4C400"/>
    <a:srgbClr val="FFC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38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9D925-CA79-435C-BDD5-BB2FBC3CE3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72794-FE95-4CF3-B5A5-DE24224ECE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 cstate="email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 cstate="email">
            <a:alphaModFix amt="3000"/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 cstate="email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3" Type="http://schemas.openxmlformats.org/officeDocument/2006/relationships/notesSlide" Target="../notesSlides/notesSlide2.xml"/><Relationship Id="rId42" Type="http://schemas.openxmlformats.org/officeDocument/2006/relationships/slideLayout" Target="../slideLayouts/slideLayout8.xml"/><Relationship Id="rId41" Type="http://schemas.openxmlformats.org/officeDocument/2006/relationships/tags" Target="../tags/tag37.xml"/><Relationship Id="rId40" Type="http://schemas.openxmlformats.org/officeDocument/2006/relationships/tags" Target="../tags/tag36.xml"/><Relationship Id="rId4" Type="http://schemas.openxmlformats.org/officeDocument/2006/relationships/tags" Target="../tags/tag3.xml"/><Relationship Id="rId39" Type="http://schemas.openxmlformats.org/officeDocument/2006/relationships/image" Target="../media/image12.png"/><Relationship Id="rId38" Type="http://schemas.openxmlformats.org/officeDocument/2006/relationships/image" Target="../media/image11.png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6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4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1645" y="2058035"/>
            <a:ext cx="6351531" cy="1453942"/>
          </a:xfrm>
        </p:spPr>
        <p:txBody>
          <a:bodyPr/>
          <a:lstStyle/>
          <a:p>
            <a:r>
              <a:rPr lang="zh-CN" altLang="en-US" sz="4000" dirty="0">
                <a:solidFill>
                  <a:srgbClr val="385723"/>
                </a:solidFill>
              </a:rPr>
              <a:t>面向</a:t>
            </a:r>
            <a:r>
              <a:rPr lang="en-US" altLang="zh-CN" sz="4000" dirty="0">
                <a:solidFill>
                  <a:srgbClr val="385723"/>
                </a:solidFill>
              </a:rPr>
              <a:t>FPT Track A</a:t>
            </a:r>
            <a:r>
              <a:rPr lang="zh-CN" altLang="en-US" sz="4000" dirty="0">
                <a:solidFill>
                  <a:srgbClr val="385723"/>
                </a:solidFill>
              </a:rPr>
              <a:t>的工具验证型</a:t>
            </a:r>
            <a:r>
              <a:rPr lang="en-US" altLang="zh-CN" sz="4000" dirty="0">
                <a:solidFill>
                  <a:srgbClr val="385723"/>
                </a:solidFill>
              </a:rPr>
              <a:t>HLS</a:t>
            </a:r>
            <a:r>
              <a:rPr lang="zh-CN" altLang="en-US" sz="4000" dirty="0">
                <a:solidFill>
                  <a:srgbClr val="385723"/>
                </a:solidFill>
              </a:rPr>
              <a:t>优化智能体</a:t>
            </a:r>
            <a:endParaRPr lang="zh-CN" altLang="en-US" sz="4000" dirty="0">
              <a:solidFill>
                <a:srgbClr val="385723"/>
              </a:solidFill>
            </a:endParaRPr>
          </a:p>
          <a:p>
            <a:endParaRPr lang="zh-CN" altLang="en-US" sz="4000" dirty="0">
              <a:ea typeface="+mn-ea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0844" y="4979683"/>
            <a:ext cx="4895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成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     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员：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陈际舟  文皓玉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胡笑歌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     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645" y="3623069"/>
            <a:ext cx="648600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/>
            </a:pPr>
            <a:r>
              <a:rPr kumimoji="0" lang="en-US" altLang="zh-CN" sz="1600" b="0" i="0" u="none" strike="noStrike" kern="1200" cap="none" spc="5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A Tool-Verified HLS Optimization Agent for FPT Track A</a:t>
            </a:r>
            <a:endParaRPr kumimoji="0" lang="en-US" altLang="zh-CN" sz="1600" b="0" i="0" u="none" strike="noStrike" kern="1200" cap="none" spc="5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1645" y="1578610"/>
            <a:ext cx="553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spc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Verified-Candidate Loop（VCL）</a:t>
            </a:r>
            <a:endParaRPr lang="en-US" altLang="zh-CN" sz="2000" b="1" spc="100" dirty="0">
              <a:solidFill>
                <a:schemeClr val="accent2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2121535"/>
            <a:ext cx="5022215" cy="1127125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4674558" y="1906191"/>
            <a:ext cx="2813671" cy="4072640"/>
            <a:chOff x="4689163" y="2250996"/>
            <a:chExt cx="2813671" cy="4072640"/>
          </a:xfrm>
        </p:grpSpPr>
        <p:grpSp>
          <p:nvGrpSpPr>
            <p:cNvPr id="25" name="组合 24"/>
            <p:cNvGrpSpPr/>
            <p:nvPr/>
          </p:nvGrpSpPr>
          <p:grpSpPr>
            <a:xfrm>
              <a:off x="4689163" y="2250996"/>
              <a:ext cx="2813671" cy="4072640"/>
              <a:chOff x="5038726" y="2152651"/>
              <a:chExt cx="2114551" cy="3060702"/>
            </a:xfrm>
            <a:scene3d>
              <a:camera prst="perspectiveRelaxedModerately" fov="4200000"/>
              <a:lightRig rig="threePt" dir="t"/>
            </a:scene3d>
          </p:grpSpPr>
          <p:sp>
            <p:nvSpPr>
              <p:cNvPr id="26" name="îslïḍé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038726" y="2152651"/>
                <a:ext cx="2114551" cy="3060702"/>
              </a:xfrm>
              <a:custGeom>
                <a:avLst/>
                <a:gdLst>
                  <a:gd name="T0" fmla="*/ 13 w 415"/>
                  <a:gd name="T1" fmla="*/ 0 h 601"/>
                  <a:gd name="T2" fmla="*/ 320 w 415"/>
                  <a:gd name="T3" fmla="*/ 0 h 601"/>
                  <a:gd name="T4" fmla="*/ 366 w 415"/>
                  <a:gd name="T5" fmla="*/ 46 h 601"/>
                  <a:gd name="T6" fmla="*/ 415 w 415"/>
                  <a:gd name="T7" fmla="*/ 95 h 601"/>
                  <a:gd name="T8" fmla="*/ 415 w 415"/>
                  <a:gd name="T9" fmla="*/ 587 h 601"/>
                  <a:gd name="T10" fmla="*/ 401 w 415"/>
                  <a:gd name="T11" fmla="*/ 601 h 601"/>
                  <a:gd name="T12" fmla="*/ 13 w 415"/>
                  <a:gd name="T13" fmla="*/ 601 h 601"/>
                  <a:gd name="T14" fmla="*/ 0 w 415"/>
                  <a:gd name="T15" fmla="*/ 587 h 601"/>
                  <a:gd name="T16" fmla="*/ 0 w 415"/>
                  <a:gd name="T17" fmla="*/ 13 h 601"/>
                  <a:gd name="T18" fmla="*/ 13 w 415"/>
                  <a:gd name="T1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5" h="601">
                    <a:moveTo>
                      <a:pt x="13" y="0"/>
                    </a:moveTo>
                    <a:cubicBezTo>
                      <a:pt x="320" y="0"/>
                      <a:pt x="320" y="0"/>
                      <a:pt x="320" y="0"/>
                    </a:cubicBezTo>
                    <a:cubicBezTo>
                      <a:pt x="366" y="46"/>
                      <a:pt x="366" y="46"/>
                      <a:pt x="366" y="46"/>
                    </a:cubicBezTo>
                    <a:cubicBezTo>
                      <a:pt x="415" y="95"/>
                      <a:pt x="415" y="95"/>
                      <a:pt x="415" y="95"/>
                    </a:cubicBezTo>
                    <a:cubicBezTo>
                      <a:pt x="415" y="587"/>
                      <a:pt x="415" y="587"/>
                      <a:pt x="415" y="587"/>
                    </a:cubicBezTo>
                    <a:cubicBezTo>
                      <a:pt x="415" y="595"/>
                      <a:pt x="409" y="601"/>
                      <a:pt x="401" y="601"/>
                    </a:cubicBezTo>
                    <a:cubicBezTo>
                      <a:pt x="13" y="601"/>
                      <a:pt x="13" y="601"/>
                      <a:pt x="13" y="601"/>
                    </a:cubicBezTo>
                    <a:cubicBezTo>
                      <a:pt x="6" y="601"/>
                      <a:pt x="0" y="595"/>
                      <a:pt x="0" y="587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7" name="îṩḷîḋê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6669089" y="2152651"/>
                <a:ext cx="484188" cy="482600"/>
              </a:xfrm>
              <a:custGeom>
                <a:avLst/>
                <a:gdLst>
                  <a:gd name="T0" fmla="*/ 95 w 95"/>
                  <a:gd name="T1" fmla="*/ 95 h 95"/>
                  <a:gd name="T2" fmla="*/ 14 w 95"/>
                  <a:gd name="T3" fmla="*/ 95 h 95"/>
                  <a:gd name="T4" fmla="*/ 0 w 95"/>
                  <a:gd name="T5" fmla="*/ 81 h 95"/>
                  <a:gd name="T6" fmla="*/ 0 w 95"/>
                  <a:gd name="T7" fmla="*/ 0 h 95"/>
                  <a:gd name="T8" fmla="*/ 49 w 95"/>
                  <a:gd name="T9" fmla="*/ 49 h 95"/>
                  <a:gd name="T10" fmla="*/ 95 w 95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95">
                    <a:moveTo>
                      <a:pt x="95" y="95"/>
                    </a:moveTo>
                    <a:cubicBezTo>
                      <a:pt x="14" y="95"/>
                      <a:pt x="14" y="95"/>
                      <a:pt x="14" y="95"/>
                    </a:cubicBezTo>
                    <a:cubicBezTo>
                      <a:pt x="6" y="95"/>
                      <a:pt x="0" y="89"/>
                      <a:pt x="0" y="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9" y="49"/>
                      <a:pt x="49" y="49"/>
                      <a:pt x="49" y="49"/>
                    </a:cubicBezTo>
                    <a:lnTo>
                      <a:pt x="95" y="95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8" name="ïṧḷïḍe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5364163" y="2784477"/>
                <a:ext cx="1503363" cy="50800"/>
              </a:xfrm>
              <a:custGeom>
                <a:avLst/>
                <a:gdLst>
                  <a:gd name="T0" fmla="*/ 5 w 295"/>
                  <a:gd name="T1" fmla="*/ 0 h 10"/>
                  <a:gd name="T2" fmla="*/ 290 w 295"/>
                  <a:gd name="T3" fmla="*/ 0 h 10"/>
                  <a:gd name="T4" fmla="*/ 295 w 295"/>
                  <a:gd name="T5" fmla="*/ 5 h 10"/>
                  <a:gd name="T6" fmla="*/ 295 w 295"/>
                  <a:gd name="T7" fmla="*/ 5 h 10"/>
                  <a:gd name="T8" fmla="*/ 290 w 295"/>
                  <a:gd name="T9" fmla="*/ 10 h 10"/>
                  <a:gd name="T10" fmla="*/ 5 w 295"/>
                  <a:gd name="T11" fmla="*/ 10 h 10"/>
                  <a:gd name="T12" fmla="*/ 0 w 295"/>
                  <a:gd name="T13" fmla="*/ 5 h 10"/>
                  <a:gd name="T14" fmla="*/ 0 w 295"/>
                  <a:gd name="T15" fmla="*/ 5 h 10"/>
                  <a:gd name="T16" fmla="*/ 5 w 295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0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0"/>
                      <a:pt x="290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9" name="íşliḓé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5364163" y="3128436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0" name="iSḻiďè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5364163" y="3477159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1" name="ï$ḻïḍè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5364163" y="452332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2" name="íşľîḓé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5364163" y="487204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3" name="íşli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5364161" y="3825882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4" name="iSḻiďè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5364162" y="4174597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  <p:pic>
          <p:nvPicPr>
            <p:cNvPr id="47" name="图片 46"/>
            <p:cNvPicPr/>
            <p:nvPr>
              <p:custDataLst>
                <p:tags r:id="rId12"/>
              </p:custDataLst>
            </p:nvPr>
          </p:nvPicPr>
          <p:blipFill>
            <a:blip r:embed="rId13" cstate="email">
              <a:alphaModFix amt="50000"/>
            </a:blip>
            <a:srcRect/>
            <a:stretch>
              <a:fillRect/>
            </a:stretch>
          </p:blipFill>
          <p:spPr>
            <a:xfrm>
              <a:off x="5025779" y="3503628"/>
              <a:ext cx="2170816" cy="2170812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  <a:scene3d>
              <a:camera prst="perspectiveRelaxedModerately" fov="4200000"/>
              <a:lightRig rig="threePt" dir="t"/>
            </a:scene3d>
          </p:spPr>
        </p:pic>
      </p:grp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141368" y="257081"/>
            <a:ext cx="8920029" cy="584200"/>
          </a:xfrm>
        </p:spPr>
        <p:txBody>
          <a:bodyPr/>
          <a:lstStyle/>
          <a:p>
            <a:r>
              <a:rPr lang="zh-CN" altLang="en-US" sz="3200" dirty="0">
                <a:solidFill>
                  <a:srgbClr val="385723"/>
                </a:solidFill>
                <a:ea typeface="+mn-ea"/>
                <a:cs typeface="+mn-ea"/>
                <a:sym typeface="+mn-ea"/>
              </a:rPr>
              <a:t>Track A 是带硬门控和预算约束的候选搜索</a:t>
            </a:r>
            <a:endParaRPr lang="zh-CN" altLang="en-US" sz="3200" dirty="0">
              <a:solidFill>
                <a:srgbClr val="385723"/>
              </a:solidFill>
              <a:ea typeface="+mn-ea"/>
              <a:cs typeface="+mn-ea"/>
            </a:endParaRPr>
          </a:p>
        </p:txBody>
      </p:sp>
      <p:grpSp>
        <p:nvGrpSpPr>
          <p:cNvPr id="11" name="组合 10"/>
          <p:cNvGrpSpPr/>
          <p:nvPr>
            <p:custDataLst>
              <p:tags r:id="rId14"/>
            </p:custDataLst>
          </p:nvPr>
        </p:nvGrpSpPr>
        <p:grpSpPr>
          <a:xfrm flipH="1">
            <a:off x="7593245" y="4440699"/>
            <a:ext cx="3796153" cy="71221"/>
            <a:chOff x="660400" y="5424930"/>
            <a:chExt cx="4028765" cy="72000"/>
          </a:xfrm>
        </p:grpSpPr>
        <p:cxnSp>
          <p:nvCxnSpPr>
            <p:cNvPr id="12" name="直接连接符 11"/>
            <p:cNvCxnSpPr>
              <a:stCxn id="13" idx="3"/>
            </p:cNvCxnSpPr>
            <p:nvPr>
              <p:custDataLst>
                <p:tags r:id="rId15"/>
              </p:custDataLst>
            </p:nvPr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>
              <p:custDataLst>
                <p:tags r:id="rId16"/>
              </p:custDataLst>
            </p:nvPr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727805" y="5265176"/>
            <a:ext cx="3764820" cy="371187"/>
            <a:chOff x="1017258" y="3196675"/>
            <a:chExt cx="3859542" cy="371187"/>
          </a:xfrm>
        </p:grpSpPr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9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>
              <p:custDataLst>
                <p:tags r:id="rId20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7593330" y="2684145"/>
            <a:ext cx="1292860" cy="5321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预算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约束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22"/>
            </p:custDataLst>
          </p:nvPr>
        </p:nvSpPr>
        <p:spPr>
          <a:xfrm>
            <a:off x="585360" y="1253861"/>
            <a:ext cx="498157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要解决的问题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是什么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23"/>
            </p:custDataLst>
          </p:nvPr>
        </p:nvSpPr>
        <p:spPr>
          <a:xfrm>
            <a:off x="7264851" y="969556"/>
            <a:ext cx="395795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硬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门控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43" name="椭圆 42"/>
          <p:cNvSpPr/>
          <p:nvPr>
            <p:custDataLst>
              <p:tags r:id="rId24"/>
            </p:custDataLst>
          </p:nvPr>
        </p:nvSpPr>
        <p:spPr>
          <a:xfrm>
            <a:off x="4428582" y="5611893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5" name="椭圆 44"/>
          <p:cNvSpPr/>
          <p:nvPr>
            <p:custDataLst>
              <p:tags r:id="rId25"/>
            </p:custDataLst>
          </p:nvPr>
        </p:nvSpPr>
        <p:spPr>
          <a:xfrm>
            <a:off x="7552016" y="4433266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/>
          <p:cNvGrpSpPr/>
          <p:nvPr>
            <p:custDataLst>
              <p:tags r:id="rId26"/>
            </p:custDataLst>
          </p:nvPr>
        </p:nvGrpSpPr>
        <p:grpSpPr>
          <a:xfrm>
            <a:off x="6786110" y="2141508"/>
            <a:ext cx="4075565" cy="438272"/>
            <a:chOff x="7391759" y="2691471"/>
            <a:chExt cx="3704841" cy="438272"/>
          </a:xfrm>
        </p:grpSpPr>
        <p:cxnSp>
          <p:nvCxnSpPr>
            <p:cNvPr id="50" name="直接连接符 49"/>
            <p:cNvCxnSpPr/>
            <p:nvPr>
              <p:custDataLst>
                <p:tags r:id="rId27"/>
              </p:custDataLst>
            </p:nvPr>
          </p:nvCxnSpPr>
          <p:spPr>
            <a:xfrm>
              <a:off x="7444415" y="3063045"/>
              <a:ext cx="338400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/>
            <p:cNvGrpSpPr/>
            <p:nvPr/>
          </p:nvGrpSpPr>
          <p:grpSpPr>
            <a:xfrm>
              <a:off x="7391759" y="2691471"/>
              <a:ext cx="3704841" cy="438272"/>
              <a:chOff x="7382428" y="3148670"/>
              <a:chExt cx="3704841" cy="438272"/>
            </a:xfrm>
          </p:grpSpPr>
          <p:grpSp>
            <p:nvGrpSpPr>
              <p:cNvPr id="14" name="组合 13"/>
              <p:cNvGrpSpPr/>
              <p:nvPr>
                <p:custDataLst>
                  <p:tags r:id="rId28"/>
                </p:custDataLst>
              </p:nvPr>
            </p:nvGrpSpPr>
            <p:grpSpPr>
              <a:xfrm flipH="1">
                <a:off x="10547269" y="3148670"/>
                <a:ext cx="540000" cy="371187"/>
                <a:chOff x="1017258" y="2819053"/>
                <a:chExt cx="540000" cy="371187"/>
              </a:xfrm>
            </p:grpSpPr>
            <p:cxnSp>
              <p:nvCxnSpPr>
                <p:cNvPr id="15" name="直接连接符 14"/>
                <p:cNvCxnSpPr/>
                <p:nvPr>
                  <p:custDataLst>
                    <p:tags r:id="rId29"/>
                  </p:custDataLst>
                </p:nvPr>
              </p:nvCxnSpPr>
              <p:spPr>
                <a:xfrm>
                  <a:off x="1287258" y="2891053"/>
                  <a:ext cx="0" cy="29918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矩形 1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017258" y="2819053"/>
                  <a:ext cx="540000" cy="72000"/>
                </a:xfrm>
                <a:prstGeom prst="rect">
                  <a:avLst/>
                </a:prstGeom>
                <a:solidFill>
                  <a:schemeClr val="accent1"/>
                </a:solidFill>
                <a:ln w="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</a:endParaRPr>
                </a:p>
              </p:txBody>
            </p:sp>
          </p:grpSp>
          <p:sp>
            <p:nvSpPr>
              <p:cNvPr id="46" name="椭圆 45"/>
              <p:cNvSpPr/>
              <p:nvPr>
                <p:custDataLst>
                  <p:tags r:id="rId31"/>
                </p:custDataLst>
              </p:nvPr>
            </p:nvSpPr>
            <p:spPr>
              <a:xfrm>
                <a:off x="7382428" y="3471433"/>
                <a:ext cx="115509" cy="11550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</p:grp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7113905" y="1430020"/>
            <a:ext cx="4906010" cy="6451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接口类型、顶层函数、输入类型；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仿真；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HLS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综合；频率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≥100MHz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；资源使用未超限；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联合仿真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3"/>
            </p:custDataLst>
          </p:nvPr>
        </p:nvSpPr>
        <p:spPr>
          <a:xfrm>
            <a:off x="522605" y="1722755"/>
            <a:ext cx="4067175" cy="4178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1.Agent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得到什么输入？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685" y="3404870"/>
            <a:ext cx="4471670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2.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搜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索什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么？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修复类任务：正确且相对优秀的结果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优化类任务：相较初始更为优秀的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结果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2605" y="4495800"/>
            <a:ext cx="4118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3.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什么情况下允许更新结果？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满足硬性要求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且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量化结果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更优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grpSp>
        <p:nvGrpSpPr>
          <p:cNvPr id="10" name="组合 9"/>
          <p:cNvGrpSpPr/>
          <p:nvPr>
            <p:custDataLst>
              <p:tags r:id="rId34"/>
            </p:custDataLst>
          </p:nvPr>
        </p:nvGrpSpPr>
        <p:grpSpPr>
          <a:xfrm flipH="1">
            <a:off x="7563485" y="5791835"/>
            <a:ext cx="2165350" cy="264160"/>
            <a:chOff x="1017258" y="3196675"/>
            <a:chExt cx="3859542" cy="371187"/>
          </a:xfrm>
        </p:grpSpPr>
        <p:cxnSp>
          <p:nvCxnSpPr>
            <p:cNvPr id="16" name="直接连接符 15"/>
            <p:cNvCxnSpPr/>
            <p:nvPr>
              <p:custDataLst>
                <p:tags r:id="rId35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36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>
              <p:custDataLst>
                <p:tags r:id="rId37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37220" y="969645"/>
            <a:ext cx="3954780" cy="39433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44765" y="3104515"/>
            <a:ext cx="4058920" cy="133096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40"/>
            </p:custDataLst>
          </p:nvPr>
        </p:nvSpPr>
        <p:spPr>
          <a:xfrm>
            <a:off x="7783830" y="4757420"/>
            <a:ext cx="5798185" cy="48006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硬件质量评分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QHW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2" name="椭圆 51"/>
          <p:cNvSpPr/>
          <p:nvPr>
            <p:custDataLst>
              <p:tags r:id="rId41"/>
            </p:custDataLst>
          </p:nvPr>
        </p:nvSpPr>
        <p:spPr>
          <a:xfrm>
            <a:off x="7521536" y="5940121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70165" y="51771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门控通过后，候选才进入QHW比较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如何同时度量性能改善与资源代价？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60171" y="225419"/>
            <a:ext cx="8920029" cy="584200"/>
          </a:xfrm>
        </p:spPr>
        <p:txBody>
          <a:bodyPr/>
          <a:lstStyle/>
          <a:p>
            <a:r>
              <a:rPr lang="en-US" altLang="zh-CN" sz="3200" dirty="0">
                <a:solidFill>
                  <a:srgbClr val="385723"/>
                </a:solidFill>
              </a:rPr>
              <a:t>QHW：</a:t>
            </a:r>
            <a:r>
              <a:rPr lang="zh-CN" altLang="en-US" sz="3200" dirty="0">
                <a:solidFill>
                  <a:srgbClr val="385723"/>
                </a:solidFill>
              </a:rPr>
              <a:t>更快不等于更优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2941955"/>
            <a:ext cx="1914525" cy="848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4195" y="2113915"/>
            <a:ext cx="4577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PPA=Power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（功耗）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+Performance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（性能）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+Area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（面积）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6740" y="54984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参考文献：</a:t>
            </a: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1.https://docs.amd.com/r/2024.1-English/ug1399-vitis-hls/Synthesis-Summary</a:t>
            </a:r>
            <a:b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2.https://arxiv.org/abs/2207.07917</a:t>
            </a:r>
            <a:endParaRPr lang="en-US" altLang="zh-CN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75" y="1466215"/>
            <a:ext cx="6570980" cy="3712210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3168650"/>
            <a:ext cx="1111250" cy="520700"/>
          </a:xfrm>
          <a:prstGeom prst="rect">
            <a:avLst/>
          </a:prstGeom>
        </p:spPr>
      </p:pic>
      <p:sp>
        <p:nvSpPr>
          <p:cNvPr id="70" name="TextBox 52"/>
          <p:cNvSpPr txBox="1"/>
          <p:nvPr/>
        </p:nvSpPr>
        <p:spPr>
          <a:xfrm>
            <a:off x="9904730" y="1018540"/>
            <a:ext cx="1739265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rP </a:t>
            </a:r>
            <a:r>
              <a:rPr lang="zh-CN" alt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≈3.1×</a:t>
            </a:r>
            <a:endParaRPr lang="en-US" sz="2400" b="1" dirty="0">
              <a:solidFill>
                <a:srgbClr val="9A493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184775" y="5250180"/>
            <a:ext cx="42125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>
                <a:solidFill>
                  <a:schemeClr val="dk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Candidate 1 更快，但 LUT≈12×、FF≈22×，且时钟变差，因此 Q_HW从 0.7500 降至 0.5333。</a:t>
            </a:r>
            <a:endParaRPr lang="zh-CN" dirty="0">
              <a:solidFill>
                <a:schemeClr val="dk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72" name="Group 60"/>
          <p:cNvGrpSpPr/>
          <p:nvPr/>
        </p:nvGrpSpPr>
        <p:grpSpPr>
          <a:xfrm>
            <a:off x="9496425" y="5222875"/>
            <a:ext cx="2375535" cy="1330989"/>
            <a:chOff x="9067800" y="4629150"/>
            <a:chExt cx="2514600" cy="1330955"/>
          </a:xfrm>
        </p:grpSpPr>
        <p:sp>
          <p:nvSpPr>
            <p:cNvPr id="73" name="Line 56"/>
            <p:cNvSpPr/>
            <p:nvPr/>
          </p:nvSpPr>
          <p:spPr>
            <a:xfrm>
              <a:off x="9086850" y="4629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74" name="TextBox 57"/>
            <p:cNvSpPr txBox="1"/>
            <p:nvPr/>
          </p:nvSpPr>
          <p:spPr>
            <a:xfrm>
              <a:off x="9080754" y="4842510"/>
              <a:ext cx="2019483" cy="368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FINAL EVALUATOR SCORE</a:t>
              </a:r>
              <a:endParaRPr lang="en-US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58"/>
            <p:cNvSpPr txBox="1"/>
            <p:nvPr/>
          </p:nvSpPr>
          <p:spPr>
            <a:xfrm>
              <a:off x="9067800" y="5160645"/>
              <a:ext cx="1554089" cy="600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rPr>
                <a:t>95.72</a:t>
              </a:r>
              <a:endParaRPr lang="en-US" sz="3900" b="1" dirty="0">
                <a:solidFill>
                  <a:srgbClr val="3556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59"/>
            <p:cNvSpPr txBox="1"/>
            <p:nvPr/>
          </p:nvSpPr>
          <p:spPr>
            <a:xfrm>
              <a:off x="9080754" y="5775960"/>
              <a:ext cx="1705948" cy="184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Candidate 2 promoted</a:t>
              </a:r>
              <a:endParaRPr lang="en-US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7" name="文本框 76"/>
          <p:cNvSpPr txBox="1"/>
          <p:nvPr>
            <p:custDataLst>
              <p:tags r:id="rId4"/>
            </p:custDataLst>
          </p:nvPr>
        </p:nvSpPr>
        <p:spPr>
          <a:xfrm>
            <a:off x="586630" y="1394196"/>
            <a:ext cx="498157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硬件质量如何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计算？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5"/>
            </p:custDataLst>
          </p:nvPr>
        </p:nvSpPr>
        <p:spPr>
          <a:xfrm>
            <a:off x="4754880" y="934085"/>
            <a:ext cx="566991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  <a:sym typeface="+mn-ea"/>
              </a:rPr>
              <a:t>3.1× 延迟改善仍可能是更差的硬件解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35" y="4032885"/>
            <a:ext cx="3348990" cy="1339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44190" y="230358"/>
            <a:ext cx="8920029" cy="584200"/>
          </a:xfrm>
        </p:spPr>
        <p:txBody>
          <a:bodyPr/>
          <a:lstStyle/>
          <a:p>
            <a:r>
              <a:rPr lang="zh-CN" altLang="en-US" sz="3200" dirty="0">
                <a:solidFill>
                  <a:srgbClr val="385723"/>
                </a:solidFill>
              </a:rPr>
              <a:t>候选先证明“有效”，再证明“优于当前最优”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>
          <a:xfrm>
            <a:off x="9245600" y="641350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9ECAFE-A460-4E13-ABCB-32CAE613624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-74645" y="6324752"/>
            <a:ext cx="12266645" cy="544918"/>
            <a:chOff x="0" y="6062868"/>
            <a:chExt cx="12192000" cy="802394"/>
          </a:xfrm>
        </p:grpSpPr>
        <p:sp>
          <p:nvSpPr>
            <p:cNvPr id="41" name="矩形 40"/>
            <p:cNvSpPr/>
            <p:nvPr/>
          </p:nvSpPr>
          <p:spPr>
            <a:xfrm>
              <a:off x="65314" y="6062868"/>
              <a:ext cx="12126686" cy="800477"/>
            </a:xfrm>
            <a:prstGeom prst="rect">
              <a:avLst/>
            </a:prstGeom>
            <a:gradFill flip="none" rotWithShape="1">
              <a:gsLst>
                <a:gs pos="0">
                  <a:srgbClr val="002F66">
                    <a:alpha val="57000"/>
                  </a:srgbClr>
                </a:gs>
                <a:gs pos="44000">
                  <a:srgbClr val="002148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+mn-cs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0" y="6110671"/>
              <a:ext cx="12192000" cy="754591"/>
            </a:xfrm>
            <a:prstGeom prst="rect">
              <a:avLst/>
            </a:prstGeom>
            <a:noFill/>
            <a:ln w="12700"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   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预算不足、门控失败或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QHW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未提升，都不会覆盖当前最佳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；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只有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Promote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才能更新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b。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740" y="935355"/>
            <a:ext cx="5430520" cy="572135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962150"/>
            <a:ext cx="8445500" cy="4114800"/>
          </a:xfrm>
          <a:prstGeom prst="rect">
            <a:avLst/>
          </a:prstGeom>
        </p:spPr>
      </p:pic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1767205" y="1394460"/>
            <a:ext cx="8658225" cy="40132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  <a:sym typeface="+mn-ea"/>
              </a:rPr>
              <a:t>晋升条件：候选通过全部适用门控，且 Q_HW 严格优于当前 verified fallback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4"/>
            </p:custDataLst>
          </p:nvPr>
        </p:nvSpPr>
        <p:spPr>
          <a:xfrm>
            <a:off x="8997950" y="3231515"/>
            <a:ext cx="3120390" cy="9639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Budget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决定“是否继续”｜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Validity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决定“能否比较”｜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Q_HW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决定“能否晋升”</a:t>
            </a:r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   |</a:t>
            </a:r>
            <a:endParaRPr lang="en-US" altLang="zh-CN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44190" y="239689"/>
            <a:ext cx="8920029" cy="584200"/>
          </a:xfrm>
        </p:spPr>
        <p:txBody>
          <a:bodyPr/>
          <a:lstStyle/>
          <a:p>
            <a:r>
              <a:rPr lang="en-US" altLang="zh-CN" sz="3200" dirty="0">
                <a:solidFill>
                  <a:srgbClr val="385723"/>
                </a:solidFill>
              </a:rPr>
              <a:t>Verified-Candidate Loop（VCL）</a:t>
            </a:r>
            <a:r>
              <a:rPr lang="zh-CN" altLang="en-US" sz="3200" dirty="0">
                <a:solidFill>
                  <a:srgbClr val="385723"/>
                </a:solidFill>
              </a:rPr>
              <a:t>工作流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-75280" y="6095517"/>
            <a:ext cx="12266930" cy="772795"/>
            <a:chOff x="-631" y="5725319"/>
            <a:chExt cx="12192283" cy="1137944"/>
          </a:xfrm>
        </p:grpSpPr>
        <p:sp>
          <p:nvSpPr>
            <p:cNvPr id="152" name="矩形 151"/>
            <p:cNvSpPr/>
            <p:nvPr/>
          </p:nvSpPr>
          <p:spPr>
            <a:xfrm>
              <a:off x="65007" y="5725319"/>
              <a:ext cx="12126645" cy="1137944"/>
            </a:xfrm>
            <a:prstGeom prst="rect">
              <a:avLst/>
            </a:prstGeom>
            <a:gradFill flip="none" rotWithShape="1">
              <a:gsLst>
                <a:gs pos="0">
                  <a:srgbClr val="002F66">
                    <a:alpha val="57000"/>
                  </a:srgbClr>
                </a:gs>
                <a:gs pos="44000">
                  <a:srgbClr val="002148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-631" y="5917118"/>
              <a:ext cx="12192000" cy="754591"/>
            </a:xfrm>
            <a:prstGeom prst="rect">
              <a:avLst/>
            </a:prstGeom>
            <a:noFill/>
            <a:ln w="12700"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Agent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在预算约束下生成候选，通过完整验证与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QHW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比较决定是否更新最优结果，并将失败证据反馈至下一轮优化。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1016000"/>
            <a:ext cx="1157605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5335905" cy="58420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测试集构成与评测</a:t>
            </a:r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模型选择</a:t>
            </a:r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60" y="1273175"/>
            <a:ext cx="5022215" cy="1127125"/>
          </a:xfrm>
          <a:prstGeom prst="rect">
            <a:avLst/>
          </a:prstGeom>
        </p:spPr>
      </p:pic>
      <p:cxnSp>
        <p:nvCxnSpPr>
          <p:cNvPr id="97" name="直接箭头连接符 96"/>
          <p:cNvCxnSpPr/>
          <p:nvPr/>
        </p:nvCxnSpPr>
        <p:spPr>
          <a:xfrm flipV="1">
            <a:off x="2418080" y="1273175"/>
            <a:ext cx="700405" cy="182880"/>
          </a:xfrm>
          <a:prstGeom prst="straightConnector1">
            <a:avLst/>
          </a:prstGeom>
          <a:ln w="127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316865" y="5878830"/>
            <a:ext cx="5778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测试数据来源于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AMD/Xilinx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的两个公开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GitHub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仓库：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Xilinx/Vitis-HLS-Introductory-Examples（109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个任务）和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Xilinx/Vitis_Accel_Examples（41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个任务）。</a:t>
            </a:r>
            <a:endParaRPr lang="zh-CN" altLang="en-US" sz="16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99" name="直接箭头连接符 98"/>
          <p:cNvCxnSpPr>
            <a:endCxn id="101" idx="3"/>
          </p:cNvCxnSpPr>
          <p:nvPr/>
        </p:nvCxnSpPr>
        <p:spPr>
          <a:xfrm flipH="1" flipV="1">
            <a:off x="2670810" y="1271905"/>
            <a:ext cx="828675" cy="44958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104" idx="3"/>
          </p:cNvCxnSpPr>
          <p:nvPr/>
        </p:nvCxnSpPr>
        <p:spPr>
          <a:xfrm flipH="1">
            <a:off x="2750185" y="2037715"/>
            <a:ext cx="773430" cy="13208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36270" y="1087755"/>
            <a:ext cx="2034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功能正确未经优化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2" name="直接箭头连接符 101"/>
          <p:cNvCxnSpPr>
            <a:endCxn id="103" idx="3"/>
          </p:cNvCxnSpPr>
          <p:nvPr/>
        </p:nvCxnSpPr>
        <p:spPr>
          <a:xfrm flipH="1" flipV="1">
            <a:off x="2670810" y="1755140"/>
            <a:ext cx="861695" cy="9906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153035" y="1570990"/>
            <a:ext cx="251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编译失败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or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综合失败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53035" y="1985645"/>
            <a:ext cx="259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csim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失败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or cosim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失败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16865" y="2400300"/>
            <a:ext cx="257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存在死锁等结构性问题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6" name="直接箭头连接符 105"/>
          <p:cNvCxnSpPr>
            <a:endCxn id="105" idx="3"/>
          </p:cNvCxnSpPr>
          <p:nvPr/>
        </p:nvCxnSpPr>
        <p:spPr>
          <a:xfrm flipH="1">
            <a:off x="2894965" y="2163445"/>
            <a:ext cx="554990" cy="421005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图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90" y="3026410"/>
            <a:ext cx="5979795" cy="280035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765" y="2460625"/>
            <a:ext cx="3905885" cy="3760470"/>
          </a:xfrm>
          <a:prstGeom prst="rect">
            <a:avLst/>
          </a:prstGeom>
        </p:spPr>
      </p:pic>
      <p:sp>
        <p:nvSpPr>
          <p:cNvPr id="110" name="文本框 109"/>
          <p:cNvSpPr txBox="1"/>
          <p:nvPr>
            <p:custDataLst>
              <p:tags r:id="rId4"/>
            </p:custDataLst>
          </p:nvPr>
        </p:nvSpPr>
        <p:spPr>
          <a:xfrm>
            <a:off x="2957830" y="2549525"/>
            <a:ext cx="423100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150 个任务覆盖六类 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HLS 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能力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430135" y="6281420"/>
            <a:ext cx="484314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3 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种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模型覆盖不同参数规模与架构</a:t>
            </a:r>
            <a:endParaRPr lang="en-US" altLang="zh-CN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7476490" cy="120523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类别差距主要集中在生成与结构修复</a:t>
            </a:r>
            <a:endParaRPr lang="zh-CN" sz="32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2825" y="6383655"/>
            <a:ext cx="9702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每类 25 个任务；单元格表示成功完成任务数 / 25。此处 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QoR 100% 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表示该类别 25/25 完成，不代表 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QHW 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得分为 100</a:t>
            </a:r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158875"/>
            <a:ext cx="11715750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11570970" cy="120523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完成率均超过 92%，但结构修复均分仅 40–45</a:t>
            </a:r>
            <a:endParaRPr lang="zh-CN" sz="32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930275"/>
            <a:ext cx="10678160" cy="4667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58607"/>
          <a:stretch>
            <a:fillRect/>
          </a:stretch>
        </p:blipFill>
        <p:spPr>
          <a:xfrm>
            <a:off x="631825" y="5777230"/>
            <a:ext cx="3490595" cy="928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42525"/>
          <a:stretch>
            <a:fillRect/>
          </a:stretch>
        </p:blipFill>
        <p:spPr>
          <a:xfrm>
            <a:off x="4079875" y="5568950"/>
            <a:ext cx="3490595" cy="128905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 rot="8460000">
            <a:off x="3198495" y="5425440"/>
            <a:ext cx="429260" cy="298450"/>
          </a:xfrm>
          <a:prstGeom prst="rightArrow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695" y="5653405"/>
            <a:ext cx="2840355" cy="182816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 rot="6540000">
            <a:off x="10967720" y="5335270"/>
            <a:ext cx="360045" cy="298450"/>
          </a:xfrm>
          <a:prstGeom prst="rightArrow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5335905" cy="58420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创新点与</a:t>
            </a:r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局限性</a:t>
            </a:r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016625" y="934720"/>
            <a:ext cx="5331460" cy="3411855"/>
            <a:chOff x="9475" y="1472"/>
            <a:chExt cx="8396" cy="5373"/>
          </a:xfrm>
        </p:grpSpPr>
        <p:grpSp>
          <p:nvGrpSpPr>
            <p:cNvPr id="3" name="组合 2"/>
            <p:cNvGrpSpPr/>
            <p:nvPr/>
          </p:nvGrpSpPr>
          <p:grpSpPr>
            <a:xfrm>
              <a:off x="9475" y="5671"/>
              <a:ext cx="8135" cy="1175"/>
              <a:chOff x="744" y="6544"/>
              <a:chExt cx="8135" cy="117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745" y="6544"/>
                <a:ext cx="1373" cy="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COVERAGE</a:t>
                </a:r>
                <a:endParaRPr lang="en-US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44" y="6868"/>
                <a:ext cx="8135" cy="8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证据来自 </a:t>
                </a:r>
                <a:r>
                  <a:rPr lang="zh-CN" sz="1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2 个 AMD 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repo、单工具、单器件、单时钟；暂无 power。CoSim 只覆盖 manifest 中 25 个 Structural tasks；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目标平台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Alveo U55C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。</a:t>
                </a:r>
                <a:endParaRPr lang="zh-CN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9475" y="1472"/>
              <a:ext cx="8397" cy="4034"/>
              <a:chOff x="10865" y="2082"/>
              <a:chExt cx="8397" cy="4034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10866" y="2869"/>
                <a:ext cx="8396" cy="3247"/>
                <a:chOff x="598932" y="1748708"/>
                <a:chExt cx="5331460" cy="2061673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603504" y="1748708"/>
                  <a:ext cx="24406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35562A"/>
                      </a:solidFill>
                      <a:latin typeface="+mn-lt"/>
                      <a:ea typeface="+mn-ea"/>
                      <a:cs typeface="+mn-cs"/>
                    </a:rPr>
                    <a:t>VALIDATED / REQUIRED INPUTS</a:t>
                  </a:r>
                  <a:endParaRPr lang="en-US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8932" y="1973580"/>
                  <a:ext cx="4267200" cy="6457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altLang="zh-CN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Agent </a:t>
                  </a:r>
                  <a:r>
                    <a:rPr lang="zh-CN" altLang="en-US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当前依赖成熟的工程输入，</a:t>
                  </a:r>
                  <a:endPara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  <a:p>
                  <a:pPr algn="l"/>
                  <a:r>
                    <a:rPr lang="zh-CN" altLang="en-US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跨工具与跨器件能力尚未完成验证。</a:t>
                  </a:r>
                  <a:endPara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609600" y="2724150"/>
                  <a:ext cx="41719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1950" h="9525">
                      <a:moveTo>
                        <a:pt x="0" y="0"/>
                      </a:moveTo>
                      <a:lnTo>
                        <a:pt x="4171950" y="0"/>
                      </a:lnTo>
                    </a:path>
                  </a:pathLst>
                </a:custGeom>
                <a:noFill/>
                <a:ln w="19050">
                  <a:solidFill>
                    <a:srgbClr val="D6DCCF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03504" y="294703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01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40892" y="2930842"/>
                  <a:ext cx="48895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公开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testbench 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与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build script；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明确接口、容差和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target</a:t>
                  </a:r>
                  <a:endPara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03504" y="325183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02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40892" y="3235642"/>
                  <a:ext cx="47117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提供有效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baseline / reference，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支持候选的相对质量比较</a:t>
                  </a:r>
                  <a:endPara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03504" y="357568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03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40892" y="3559492"/>
                  <a:ext cx="46228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任务明确是否需要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CoSim，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并使用固定任务清单与工具预算</a:t>
                  </a:r>
                  <a:endPara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</p:grpSp>
          <p:sp>
            <p:nvSpPr>
              <p:cNvPr id="77" name="文本框 7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0865" y="2082"/>
                <a:ext cx="1869" cy="72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/>
                    </a:solidFill>
                    <a:latin typeface="Arial" panose="020B0604020202020204"/>
                    <a:cs typeface="+mn-ea"/>
                  </a:rPr>
                  <a:t>局限性</a:t>
                </a:r>
                <a:endPara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62280" y="989330"/>
            <a:ext cx="5331460" cy="2863215"/>
            <a:chOff x="728" y="1908"/>
            <a:chExt cx="8396" cy="4509"/>
          </a:xfrm>
        </p:grpSpPr>
        <p:sp>
          <p:nvSpPr>
            <p:cNvPr id="39" name="文本框 38"/>
            <p:cNvSpPr txBox="1"/>
            <p:nvPr>
              <p:custDataLst>
                <p:tags r:id="rId2"/>
              </p:custDataLst>
            </p:nvPr>
          </p:nvSpPr>
          <p:spPr>
            <a:xfrm>
              <a:off x="745" y="1908"/>
              <a:ext cx="1939" cy="7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rPr>
                <a:t>创新点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endParaRPr>
            </a:p>
          </p:txBody>
        </p:sp>
        <p:grpSp>
          <p:nvGrpSpPr>
            <p:cNvPr id="40" name="Group 23"/>
            <p:cNvGrpSpPr/>
            <p:nvPr/>
          </p:nvGrpSpPr>
          <p:grpSpPr>
            <a:xfrm>
              <a:off x="728" y="2657"/>
              <a:ext cx="8396" cy="3760"/>
              <a:chOff x="598932" y="1734185"/>
              <a:chExt cx="5331460" cy="2387346"/>
            </a:xfrm>
          </p:grpSpPr>
          <p:sp>
            <p:nvSpPr>
              <p:cNvPr id="41" name="TextBox 9"/>
              <p:cNvSpPr txBox="1"/>
              <p:nvPr/>
            </p:nvSpPr>
            <p:spPr>
              <a:xfrm>
                <a:off x="603504" y="1734185"/>
                <a:ext cx="162242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KEY CONTRIBUTIONS</a:t>
                </a:r>
                <a:endParaRPr lang="en-US" altLang="zh-CN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10"/>
              <p:cNvSpPr txBox="1"/>
              <p:nvPr/>
            </p:nvSpPr>
            <p:spPr>
              <a:xfrm>
                <a:off x="598932" y="1973580"/>
                <a:ext cx="4533900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把“生成候选”变成“验证后晋升”</a:t>
                </a:r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11"/>
              <p:cNvSpPr txBox="1"/>
              <p:nvPr/>
            </p:nvSpPr>
            <p:spPr>
              <a:xfrm>
                <a:off x="601218" y="2374582"/>
                <a:ext cx="3771900" cy="253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让硬件证据而不是模型置信度控制迭代。</a:t>
                </a:r>
                <a:endPara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Line 12"/>
              <p:cNvSpPr/>
              <p:nvPr/>
            </p:nvSpPr>
            <p:spPr>
              <a:xfrm>
                <a:off x="609600" y="2730500"/>
                <a:ext cx="417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71950" h="9525">
                    <a:moveTo>
                      <a:pt x="0" y="0"/>
                    </a:moveTo>
                    <a:lnTo>
                      <a:pt x="4171950" y="0"/>
                    </a:lnTo>
                  </a:path>
                </a:pathLst>
              </a:custGeom>
              <a:noFill/>
              <a:ln w="19050">
                <a:solidFill>
                  <a:srgbClr val="D6DCCF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" name="TextBox 13"/>
              <p:cNvSpPr txBox="1"/>
              <p:nvPr/>
            </p:nvSpPr>
            <p:spPr>
              <a:xfrm>
                <a:off x="603504" y="29533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6" name="TextBox 14"/>
              <p:cNvSpPr txBox="1"/>
              <p:nvPr/>
            </p:nvSpPr>
            <p:spPr>
              <a:xfrm>
                <a:off x="1040892" y="2937192"/>
                <a:ext cx="34671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提出综合有效性能与最坏资源质量的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QHW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指标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47" name="TextBox 15"/>
              <p:cNvSpPr txBox="1"/>
              <p:nvPr/>
            </p:nvSpPr>
            <p:spPr>
              <a:xfrm>
                <a:off x="603504" y="32645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8" name="TextBox 16"/>
              <p:cNvSpPr txBox="1"/>
              <p:nvPr/>
            </p:nvSpPr>
            <p:spPr>
              <a:xfrm>
                <a:off x="1040892" y="3248342"/>
                <a:ext cx="43561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将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QHW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嵌入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VCL，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控制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Optimize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候选是否更新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best-so-far</a:t>
                </a:r>
                <a:endParaRPr lang="en-US" altLang="zh-CN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49" name="TextBox 17"/>
              <p:cNvSpPr txBox="1"/>
              <p:nvPr/>
            </p:nvSpPr>
            <p:spPr>
              <a:xfrm>
                <a:off x="603504" y="3569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0" name="TextBox 18"/>
              <p:cNvSpPr txBox="1"/>
              <p:nvPr/>
            </p:nvSpPr>
            <p:spPr>
              <a:xfrm>
                <a:off x="1040892" y="3553142"/>
                <a:ext cx="40894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复用工具诊断与实测退化证据，约束下一轮候选生成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51" name="TextBox 19"/>
              <p:cNvSpPr txBox="1"/>
              <p:nvPr/>
            </p:nvSpPr>
            <p:spPr>
              <a:xfrm>
                <a:off x="603504" y="38868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04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2" name="TextBox 20"/>
              <p:cNvSpPr txBox="1"/>
              <p:nvPr/>
            </p:nvSpPr>
            <p:spPr>
              <a:xfrm>
                <a:off x="1040892" y="3870642"/>
                <a:ext cx="48895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通过预算准入与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verified fallback，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避免不完整验证污染结果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3167380" y="4030345"/>
            <a:ext cx="4709160" cy="2545681"/>
            <a:chOff x="728" y="1908"/>
            <a:chExt cx="7416" cy="4009"/>
          </a:xfrm>
        </p:grpSpPr>
        <p:sp>
          <p:nvSpPr>
            <p:cNvPr id="57" name="文本框 56"/>
            <p:cNvSpPr txBox="1"/>
            <p:nvPr>
              <p:custDataLst>
                <p:tags r:id="rId3"/>
              </p:custDataLst>
            </p:nvPr>
          </p:nvSpPr>
          <p:spPr>
            <a:xfrm>
              <a:off x="745" y="1908"/>
              <a:ext cx="3499" cy="7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rPr>
                <a:t>下一步计划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endParaRPr>
            </a:p>
          </p:txBody>
        </p:sp>
        <p:grpSp>
          <p:nvGrpSpPr>
            <p:cNvPr id="58" name="Group 23"/>
            <p:cNvGrpSpPr/>
            <p:nvPr/>
          </p:nvGrpSpPr>
          <p:grpSpPr>
            <a:xfrm>
              <a:off x="728" y="2657"/>
              <a:ext cx="7416" cy="3260"/>
              <a:chOff x="598932" y="1734185"/>
              <a:chExt cx="4709160" cy="2069846"/>
            </a:xfrm>
          </p:grpSpPr>
          <p:sp>
            <p:nvSpPr>
              <p:cNvPr id="59" name="TextBox 9"/>
              <p:cNvSpPr txBox="1"/>
              <p:nvPr/>
            </p:nvSpPr>
            <p:spPr>
              <a:xfrm>
                <a:off x="603504" y="1734185"/>
                <a:ext cx="1259205" cy="184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NEXT ITERATION</a:t>
                </a:r>
                <a:endParaRPr lang="en-US" altLang="zh-CN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10"/>
              <p:cNvSpPr txBox="1"/>
              <p:nvPr/>
            </p:nvSpPr>
            <p:spPr>
              <a:xfrm>
                <a:off x="598932" y="1973580"/>
                <a:ext cx="3676015" cy="322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先提高 </a:t>
                </a:r>
                <a:r>
                  <a:rPr lang="en-US" alt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Optimize </a:t>
                </a:r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的质量上限，</a:t>
                </a:r>
                <a:endParaRPr lang="zh-CN" alt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11"/>
              <p:cNvSpPr txBox="1"/>
              <p:nvPr/>
            </p:nvSpPr>
            <p:spPr>
              <a:xfrm>
                <a:off x="601218" y="2374582"/>
                <a:ext cx="3562350" cy="253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再扩展任务输入、工具链与器件边界。</a:t>
                </a:r>
                <a:endPara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Line 12"/>
              <p:cNvSpPr/>
              <p:nvPr/>
            </p:nvSpPr>
            <p:spPr>
              <a:xfrm>
                <a:off x="609600" y="2730500"/>
                <a:ext cx="417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71950" h="9525">
                    <a:moveTo>
                      <a:pt x="0" y="0"/>
                    </a:moveTo>
                    <a:lnTo>
                      <a:pt x="4171950" y="0"/>
                    </a:lnTo>
                  </a:path>
                </a:pathLst>
              </a:custGeom>
              <a:noFill/>
              <a:ln w="19050">
                <a:solidFill>
                  <a:srgbClr val="D6DCCF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3" name="TextBox 13"/>
              <p:cNvSpPr txBox="1"/>
              <p:nvPr/>
            </p:nvSpPr>
            <p:spPr>
              <a:xfrm>
                <a:off x="603504" y="29533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4" name="TextBox 14"/>
              <p:cNvSpPr txBox="1"/>
              <p:nvPr/>
            </p:nvSpPr>
            <p:spPr>
              <a:xfrm>
                <a:off x="1040892" y="2937192"/>
                <a:ext cx="42672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增强循环、访存、流水线与 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Dataflow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的定向优化策略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65" name="TextBox 15"/>
              <p:cNvSpPr txBox="1"/>
              <p:nvPr/>
            </p:nvSpPr>
            <p:spPr>
              <a:xfrm>
                <a:off x="603504" y="32645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6" name="TextBox 16"/>
              <p:cNvSpPr txBox="1"/>
              <p:nvPr/>
            </p:nvSpPr>
            <p:spPr>
              <a:xfrm>
                <a:off x="1040892" y="3248342"/>
                <a:ext cx="34671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扩展均衡、速度优先和面积优先的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 QHW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配置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67" name="TextBox 17"/>
              <p:cNvSpPr txBox="1"/>
              <p:nvPr/>
            </p:nvSpPr>
            <p:spPr>
              <a:xfrm>
                <a:off x="603504" y="3569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8" name="TextBox 18"/>
              <p:cNvSpPr txBox="1"/>
              <p:nvPr/>
            </p:nvSpPr>
            <p:spPr>
              <a:xfrm>
                <a:off x="1040892" y="3553142"/>
                <a:ext cx="41783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增加工程输入与 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testbench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的完整性诊断和辅助修复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00710" y="2396490"/>
            <a:ext cx="6120765" cy="90678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385723"/>
                </a:solidFill>
                <a:ea typeface="+mn-ea"/>
                <a:cs typeface="+mn-ea"/>
              </a:rPr>
              <a:t>感谢观看！</a:t>
            </a:r>
            <a:endParaRPr lang="zh-CN" altLang="en-US" dirty="0">
              <a:solidFill>
                <a:srgbClr val="385723"/>
              </a:solidFill>
              <a:ea typeface="+mn-ea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5445" y="322695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5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ea"/>
              </a:rPr>
              <a:t>Thanks for watching!</a:t>
            </a:r>
            <a:endParaRPr kumimoji="0" lang="en-US" altLang="zh-CN" sz="1200" b="0" i="0" u="none" strike="noStrike" kern="1200" cap="none" spc="5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1479" y="4904118"/>
            <a:ext cx="4895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成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员：</a:t>
            </a:r>
            <a:r>
              <a:rPr lang="zh-C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陈际舟  文皓玉</a:t>
            </a:r>
            <a:r>
              <a:rPr lang="en-US" altLang="zh-C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胡笑歌</a:t>
            </a:r>
            <a:r>
              <a:rPr lang="en-US" altLang="zh-C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     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6.xml><?xml version="1.0" encoding="utf-8"?>
<p:tagLst xmlns:p="http://schemas.openxmlformats.org/presentationml/2006/main">
  <p:tag name="KSO_WM_DIAGRAM_VIRTUALLY_FRAME" val="{&quot;height&quot;:370.424094488189,&quot;left&quot;:6.55,&quot;top&quot;:100.35,&quot;width&quot;:901.8}"/>
</p:tagLst>
</file>

<file path=ppt/tags/tag2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heme/theme1.xml><?xml version="1.0" encoding="utf-8"?>
<a:theme xmlns:a="http://schemas.openxmlformats.org/drawingml/2006/main" name="1_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1915</Words>
  <Application>WPS 演示</Application>
  <PresentationFormat>宽屏</PresentationFormat>
  <Paragraphs>179</Paragraphs>
  <Slides>10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等线</vt:lpstr>
      <vt:lpstr>仿宋</vt:lpstr>
      <vt:lpstr>OPPOSans H</vt:lpstr>
      <vt:lpstr>Consolas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 zbh</dc:creator>
  <cp:lastModifiedBy>溪芹梦阮</cp:lastModifiedBy>
  <cp:revision>160</cp:revision>
  <dcterms:created xsi:type="dcterms:W3CDTF">2025-11-15T06:55:00Z</dcterms:created>
  <dcterms:modified xsi:type="dcterms:W3CDTF">2026-07-30T17:02:49Z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D1D7F6D26FF54030BF05D606242C73D1_13</vt:lpwstr>
  </property>
  <property fmtid="{D5CDD505-2E9C-101B-9397-08002B2CF9AE}" pid="3" name="KSOProductBuildVer">
    <vt:lpwstr>2052-12.1.0.26895</vt:lpwstr>
  </property>
</Properties>
</file>