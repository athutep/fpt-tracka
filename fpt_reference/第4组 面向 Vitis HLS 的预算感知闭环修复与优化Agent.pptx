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70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70D2"/>
    <a:srgbClr val="F39C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39" y="77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80AE1-F7BB-48D6-840D-966D0C09E8B2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C96DF-D940-46C2-BA5D-19B1EFFB58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27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56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3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9808" y="1170432"/>
            <a:ext cx="10698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 err="1">
                <a:solidFill>
                  <a:srgbClr val="6B778C"/>
                </a:solidFill>
                <a:latin typeface="Microsoft YaHei"/>
              </a:rPr>
              <a:t>面向</a:t>
            </a:r>
            <a:r>
              <a:rPr sz="2400" b="1" dirty="0">
                <a:solidFill>
                  <a:srgbClr val="6B778C"/>
                </a:solidFill>
                <a:latin typeface="Microsoft YaHei"/>
              </a:rPr>
              <a:t> Vitis HLS 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64208"/>
            <a:ext cx="107899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dirty="0" err="1">
                <a:solidFill>
                  <a:srgbClr val="142644"/>
                </a:solidFill>
                <a:latin typeface="Microsoft YaHei"/>
              </a:rPr>
              <a:t>预算感知闭环修复与优化</a:t>
            </a:r>
            <a:r>
              <a:rPr sz="4200" b="1" dirty="0">
                <a:solidFill>
                  <a:srgbClr val="142644"/>
                </a:solidFill>
                <a:latin typeface="Microsoft YaHei"/>
              </a:rPr>
              <a:t>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962656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3670D2"/>
                </a:solidFill>
                <a:latin typeface="Microsoft YaHei"/>
              </a:rPr>
              <a:t>FPT 2026 Track-A </a:t>
            </a:r>
            <a:r>
              <a:rPr sz="1600" b="1" dirty="0" err="1">
                <a:solidFill>
                  <a:srgbClr val="3670D2"/>
                </a:solidFill>
                <a:latin typeface="Microsoft YaHei"/>
              </a:rPr>
              <a:t>项目成果汇报</a:t>
            </a:r>
            <a:endParaRPr sz="1600" b="1" dirty="0">
              <a:solidFill>
                <a:srgbClr val="3670D2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4" y="3337560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 err="1">
                <a:solidFill>
                  <a:srgbClr val="505C6E"/>
                </a:solidFill>
                <a:latin typeface="Microsoft YaHei"/>
              </a:rPr>
              <a:t>康宋睿</a:t>
            </a:r>
            <a:r>
              <a:rPr sz="1300" b="0" dirty="0">
                <a:solidFill>
                  <a:srgbClr val="505C6E"/>
                </a:solidFill>
                <a:latin typeface="Microsoft YaHei"/>
              </a:rPr>
              <a:t> · </a:t>
            </a:r>
            <a:r>
              <a:rPr sz="1300" b="0" dirty="0" err="1">
                <a:solidFill>
                  <a:srgbClr val="505C6E"/>
                </a:solidFill>
                <a:latin typeface="Microsoft YaHei"/>
              </a:rPr>
              <a:t>曹忆璇</a:t>
            </a:r>
            <a:r>
              <a:rPr sz="1300" b="0" dirty="0">
                <a:solidFill>
                  <a:srgbClr val="505C6E"/>
                </a:solidFill>
                <a:latin typeface="Microsoft YaHei"/>
              </a:rPr>
              <a:t> · </a:t>
            </a:r>
            <a:r>
              <a:rPr sz="1300" b="0" dirty="0" err="1">
                <a:solidFill>
                  <a:srgbClr val="505C6E"/>
                </a:solidFill>
                <a:latin typeface="Microsoft YaHei"/>
              </a:rPr>
              <a:t>张容慧</a:t>
            </a:r>
            <a:endParaRPr sz="1300" b="0" dirty="0">
              <a:solidFill>
                <a:srgbClr val="505C6E"/>
              </a:solidFill>
              <a:latin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6384" y="4160520"/>
            <a:ext cx="27432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401009" y="4381088"/>
            <a:ext cx="1634799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3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循环迭代</a:t>
            </a:r>
            <a:r>
              <a:rPr sz="13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生成代码</a:t>
            </a:r>
            <a:endParaRPr sz="13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703320" y="4498848"/>
            <a:ext cx="1005840" cy="0"/>
          </a:xfrm>
          <a:prstGeom prst="line">
            <a:avLst/>
          </a:prstGeom>
          <a:ln w="31750">
            <a:solidFill>
              <a:srgbClr val="1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64608" y="4160520"/>
            <a:ext cx="292608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558646" y="4382591"/>
            <a:ext cx="1618735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dirty="0">
                <a:solidFill>
                  <a:srgbClr val="142644"/>
                </a:solidFill>
                <a:latin typeface="Microsoft YaHei"/>
              </a:rPr>
              <a:t> Vitis </a:t>
            </a:r>
            <a:r>
              <a:rPr sz="1300" b="1" dirty="0" err="1">
                <a:solidFill>
                  <a:srgbClr val="142644"/>
                </a:solidFill>
                <a:latin typeface="Microsoft YaHei"/>
              </a:rPr>
              <a:t>反馈闭环</a:t>
            </a:r>
            <a:endParaRPr sz="1300" b="1" dirty="0">
              <a:solidFill>
                <a:srgbClr val="142644"/>
              </a:solidFill>
              <a:latin typeface="Microsoft YaHei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973568" y="4498848"/>
            <a:ext cx="987552" cy="0"/>
          </a:xfrm>
          <a:prstGeom prst="line">
            <a:avLst/>
          </a:prstGeom>
          <a:ln w="31750">
            <a:solidFill>
              <a:srgbClr val="1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25712" y="4160520"/>
            <a:ext cx="2057400" cy="676656"/>
          </a:xfrm>
          <a:prstGeom prst="roundRect">
            <a:avLst/>
          </a:prstGeom>
          <a:solidFill>
            <a:srgbClr val="142644"/>
          </a:solidFill>
          <a:ln w="12700">
            <a:solidFill>
              <a:srgbClr val="14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9658618" y="4382591"/>
            <a:ext cx="1132373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Microsoft YaHei"/>
              </a:rPr>
              <a:t>证据驱动晋升</a:t>
            </a:r>
            <a:endParaRPr sz="13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384" y="6172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dirty="0" err="1">
                <a:solidFill>
                  <a:srgbClr val="6B778C"/>
                </a:solidFill>
                <a:latin typeface="Microsoft YaHei"/>
              </a:rPr>
              <a:t>关键词：Action</a:t>
            </a:r>
            <a:r>
              <a:rPr sz="1050" b="0" dirty="0">
                <a:solidFill>
                  <a:srgbClr val="6B778C"/>
                </a:solidFill>
                <a:latin typeface="Microsoft YaHei"/>
              </a:rPr>
              <a:t> Schema · Budget Policy · </a:t>
            </a:r>
            <a:r>
              <a:rPr sz="1050" b="0" dirty="0" err="1">
                <a:solidFill>
                  <a:srgbClr val="6B778C"/>
                </a:solidFill>
                <a:latin typeface="Microsoft YaHei"/>
              </a:rPr>
              <a:t>CSim</a:t>
            </a:r>
            <a:r>
              <a:rPr sz="1050" b="0" dirty="0">
                <a:solidFill>
                  <a:srgbClr val="6B778C"/>
                </a:solidFill>
                <a:latin typeface="Microsoft YaHei"/>
              </a:rPr>
              <a:t>/Synth/CoSim · </a:t>
            </a:r>
            <a:r>
              <a:rPr sz="1050" b="0" dirty="0" err="1">
                <a:solidFill>
                  <a:srgbClr val="6B778C"/>
                </a:solidFill>
                <a:latin typeface="Microsoft YaHei"/>
              </a:rPr>
              <a:t>Bitwidth</a:t>
            </a:r>
            <a:r>
              <a:rPr sz="1050" b="0" dirty="0">
                <a:solidFill>
                  <a:srgbClr val="6B778C"/>
                </a:solidFill>
                <a:latin typeface="Microsoft YaHei"/>
              </a:rPr>
              <a:t>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59536" y="226314"/>
            <a:ext cx="4498989" cy="47705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HLS </a:t>
            </a:r>
            <a:r>
              <a:rPr sz="28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优化的难点</a:t>
            </a:r>
            <a:r>
              <a:rPr lang="zh-CN" altLang="en-US" sz="28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8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闭环取舍</a:t>
            </a:r>
            <a:endParaRPr sz="28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896112"/>
            <a:ext cx="914400" cy="50292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2971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13272" cy="1527048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1426464"/>
            <a:ext cx="269748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传统流程</a:t>
            </a:r>
            <a:r>
              <a:rPr lang="zh-CN" altLang="en-US" sz="15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15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</a:t>
            </a:r>
            <a:r>
              <a:rPr lang="zh-CN" altLang="en-US" sz="15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endParaRPr sz="15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1831646"/>
            <a:ext cx="2807208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13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功能正确不等于</a:t>
            </a:r>
            <a:r>
              <a:rPr sz="13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RTL </a:t>
            </a:r>
            <a:r>
              <a:rPr sz="13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结构正确</a:t>
            </a:r>
            <a:r>
              <a:rPr sz="13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• </a:t>
            </a:r>
            <a:r>
              <a:rPr sz="13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Latency、资源与频率相互制约</a:t>
            </a:r>
            <a:r>
              <a:rPr sz="13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• </a:t>
            </a:r>
            <a:r>
              <a:rPr sz="13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综合与</a:t>
            </a:r>
            <a:r>
              <a:rPr sz="13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CoSim </a:t>
            </a:r>
            <a:r>
              <a:rPr sz="13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成本远高于静态分析</a:t>
            </a:r>
            <a:r>
              <a:rPr sz="13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• </a:t>
            </a:r>
            <a:r>
              <a:rPr sz="13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一次性生成缺少回退与证据链</a:t>
            </a:r>
            <a:endParaRPr sz="1300" b="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3816" y="3022092"/>
            <a:ext cx="2953512" cy="14590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3815" y="3022092"/>
            <a:ext cx="76753" cy="145907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4422" y="3122675"/>
            <a:ext cx="2830279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系统必须同时回答</a:t>
            </a:r>
            <a:endParaRPr sz="15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8408" y="3497579"/>
            <a:ext cx="2782308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修改是否保持接口与功能</a:t>
            </a:r>
            <a:r>
              <a:rPr sz="13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
</a:t>
            </a:r>
            <a:r>
              <a:rPr sz="13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是否满足目标时钟和资源约束</a:t>
            </a:r>
            <a:r>
              <a:rPr sz="13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
</a:t>
            </a:r>
            <a:r>
              <a:rPr sz="13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是否值得消耗下一阶段工具预算</a:t>
            </a:r>
            <a:r>
              <a:rPr sz="13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
</a:t>
            </a:r>
            <a:r>
              <a:rPr sz="13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失败后如何回退并进入下一轮</a:t>
            </a:r>
            <a:r>
              <a:rPr sz="13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7972" y="1083564"/>
            <a:ext cx="32461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13148" y="1211580"/>
            <a:ext cx="26974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HLS</a:t>
            </a:r>
            <a:r>
              <a:rPr lang="zh-CN" altLang="en-US" sz="16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搜索目标</a:t>
            </a:r>
            <a:endParaRPr sz="16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 flipH="1">
            <a:off x="4864608" y="1828800"/>
            <a:ext cx="1097280" cy="1874520"/>
          </a:xfrm>
          <a:prstGeom prst="line">
            <a:avLst/>
          </a:prstGeom>
          <a:ln w="25400">
            <a:solidFill>
              <a:srgbClr val="1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64608" y="3703320"/>
            <a:ext cx="2194560" cy="0"/>
          </a:xfrm>
          <a:prstGeom prst="line">
            <a:avLst/>
          </a:prstGeom>
          <a:ln w="25400">
            <a:solidFill>
              <a:srgbClr val="1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5961888" y="1828800"/>
            <a:ext cx="1097280" cy="1874520"/>
          </a:xfrm>
          <a:prstGeom prst="line">
            <a:avLst/>
          </a:prstGeom>
          <a:ln w="25400">
            <a:solidFill>
              <a:srgbClr val="1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72100" y="1552194"/>
            <a:ext cx="10972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3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831336"/>
            <a:ext cx="10515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3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848655"/>
            <a:ext cx="1005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3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834640"/>
            <a:ext cx="123444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Pareto
取舍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325880"/>
            <a:ext cx="2788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229600" y="1325880"/>
            <a:ext cx="73152" cy="804672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94192" y="1426464"/>
            <a:ext cx="251460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CSim</a:t>
            </a:r>
            <a:r>
              <a:rPr sz="135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：</a:t>
            </a:r>
            <a:r>
              <a:rPr sz="135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功能是否对</a:t>
            </a:r>
            <a:endParaRPr sz="135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94192" y="1801368"/>
            <a:ext cx="246887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但无法证明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RTL </a:t>
            </a:r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不死锁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377440"/>
            <a:ext cx="2788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29600" y="2377440"/>
            <a:ext cx="73152" cy="804672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94192" y="2478024"/>
            <a:ext cx="251460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Synth ：</a:t>
            </a:r>
            <a:r>
              <a:rPr sz="135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结构是否可综合</a:t>
            </a:r>
            <a:endParaRPr sz="135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94192" y="2852928"/>
            <a:ext cx="267004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</a:t>
            </a:r>
            <a:r>
              <a:rPr sz="12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2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latency、II、资源与时钟估计</a:t>
            </a:r>
            <a:r>
              <a:rPr sz="12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429000"/>
            <a:ext cx="2788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229600" y="3429000"/>
            <a:ext cx="73152" cy="804672"/>
          </a:xfrm>
          <a:prstGeom prst="rect">
            <a:avLst/>
          </a:prstGeom>
          <a:solidFill>
            <a:srgbClr val="D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94192" y="3529584"/>
            <a:ext cx="251460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CoSim ：RTL </a:t>
            </a:r>
            <a:r>
              <a:rPr sz="135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是否真实可运行</a:t>
            </a:r>
            <a:endParaRPr sz="135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94192" y="3904487"/>
            <a:ext cx="25146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</a:t>
            </a:r>
            <a:r>
              <a:rPr sz="11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FIFO </a:t>
            </a:r>
            <a:r>
              <a:rPr sz="11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背压、死锁只能在这里暴露</a:t>
            </a:r>
            <a:r>
              <a:rPr sz="11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257800"/>
            <a:ext cx="10241280" cy="566928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51559" y="5413248"/>
            <a:ext cx="9909129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我们的目标：让模型或规则每次只提出受约束动作，再由</a:t>
            </a:r>
            <a:r>
              <a:rPr sz="15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Vitis </a:t>
            </a:r>
            <a:r>
              <a:rPr sz="15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反馈闭环决定是否晋升，而不是直接相信一次性生成</a:t>
            </a:r>
            <a:r>
              <a:rPr sz="15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Connector 58"/>
          <p:cNvCxnSpPr>
            <a:cxnSpLocks/>
            <a:endCxn id="17" idx="2"/>
          </p:cNvCxnSpPr>
          <p:nvPr/>
        </p:nvCxnSpPr>
        <p:spPr>
          <a:xfrm flipH="1" flipV="1">
            <a:off x="4869180" y="2240280"/>
            <a:ext cx="976122" cy="2286000"/>
          </a:xfrm>
          <a:prstGeom prst="line">
            <a:avLst/>
          </a:prstGeom>
          <a:ln w="22860">
            <a:solidFill>
              <a:srgbClr val="F39C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210312"/>
            <a:ext cx="10789920" cy="56692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 dirty="0">
                <a:solidFill>
                  <a:srgbClr val="142644"/>
                </a:solidFill>
                <a:latin typeface="Microsoft YaHei"/>
              </a:rPr>
              <a:t>Agent </a:t>
            </a:r>
            <a:r>
              <a:rPr sz="2800" b="1" dirty="0" err="1">
                <a:solidFill>
                  <a:srgbClr val="142644"/>
                </a:solidFill>
                <a:latin typeface="Microsoft YaHei"/>
              </a:rPr>
              <a:t>工作流程：把每一次</a:t>
            </a:r>
            <a:r>
              <a:rPr sz="2800" b="1" dirty="0">
                <a:solidFill>
                  <a:srgbClr val="142644"/>
                </a:solidFill>
                <a:latin typeface="Microsoft YaHei"/>
              </a:rPr>
              <a:t> HLS </a:t>
            </a:r>
            <a:r>
              <a:rPr sz="2800" b="1" dirty="0" err="1">
                <a:solidFill>
                  <a:srgbClr val="142644"/>
                </a:solidFill>
                <a:latin typeface="Microsoft YaHei"/>
              </a:rPr>
              <a:t>修改放进可验证闭环</a:t>
            </a:r>
            <a:endParaRPr sz="2800" b="1" dirty="0">
              <a:solidFill>
                <a:srgbClr val="142644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3622" y="766381"/>
            <a:ext cx="6133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6B778C"/>
                </a:solidFill>
                <a:latin typeface="Microsoft YaHei"/>
              </a:rPr>
              <a:t>从任务输入到最终候选冻结，所有决策都由证据、预算和约束共同决定</a:t>
            </a:r>
            <a:endParaRPr sz="1400" dirty="0">
              <a:solidFill>
                <a:srgbClr val="6B778C"/>
              </a:solidFill>
              <a:latin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1097280"/>
            <a:ext cx="914400" cy="50292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545336"/>
            <a:ext cx="1362456" cy="57607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1100" b="1">
                <a:solidFill>
                  <a:srgbClr val="142644"/>
                </a:solidFill>
                <a:latin typeface="Microsoft YaHei"/>
              </a:rPr>
              <a:t>任务约束
源码 / testbench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984248"/>
            <a:ext cx="1271016" cy="256032"/>
          </a:xfrm>
          <a:prstGeom prst="roundRect">
            <a:avLst/>
          </a:prstGeom>
          <a:solidFill>
            <a:srgbClr val="179EBE"/>
          </a:solidFill>
          <a:ln w="12700">
            <a:solidFill>
              <a:srgbClr val="17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3" y="1990008"/>
            <a:ext cx="123443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Microsoft YaHei"/>
              </a:rPr>
              <a:t>输入</a:t>
            </a:r>
            <a:endParaRPr sz="14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331720" y="141732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04872" y="1545336"/>
            <a:ext cx="1362456" cy="57607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1100" b="1">
                <a:solidFill>
                  <a:srgbClr val="142644"/>
                </a:solidFill>
                <a:latin typeface="Microsoft YaHei"/>
              </a:rPr>
              <a:t>Baseline
CSim/Synth/CoSim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41732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87952" y="1545336"/>
            <a:ext cx="1362456" cy="57607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1100" b="1">
                <a:solidFill>
                  <a:srgbClr val="142644"/>
                </a:solidFill>
                <a:latin typeface="Microsoft YaHei"/>
              </a:rPr>
              <a:t>Context Builder
提取状态与证据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3672" y="1984248"/>
            <a:ext cx="1271016" cy="256032"/>
          </a:xfrm>
          <a:prstGeom prst="roundRect">
            <a:avLst/>
          </a:prstGeom>
          <a:solidFill>
            <a:srgbClr val="3670D2"/>
          </a:solidFill>
          <a:ln w="12700">
            <a:solidFill>
              <a:srgbClr val="36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61102" y="1990008"/>
            <a:ext cx="123443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Microsoft YaHei"/>
              </a:rPr>
              <a:t>感知</a:t>
            </a:r>
            <a:endParaRPr sz="14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97880" y="141732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71032" y="1545336"/>
            <a:ext cx="1362456" cy="57607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1100" b="1">
                <a:solidFill>
                  <a:srgbClr val="142644"/>
                </a:solidFill>
                <a:latin typeface="Microsoft YaHei"/>
              </a:rPr>
              <a:t>Planner
Rule / LLM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16752" y="1984248"/>
            <a:ext cx="1271016" cy="256032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44183" y="1990008"/>
            <a:ext cx="123443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Microsoft YaHei"/>
              </a:rPr>
              <a:t>决策</a:t>
            </a:r>
            <a:endParaRPr sz="14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680960" y="141732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54112" y="1545336"/>
            <a:ext cx="1362456" cy="57607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1100" b="1" dirty="0">
                <a:solidFill>
                  <a:srgbClr val="142644"/>
                </a:solidFill>
                <a:latin typeface="Microsoft YaHei"/>
              </a:rPr>
              <a:t>Action Plan
JSON Schema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99832" y="1984248"/>
            <a:ext cx="1271016" cy="256032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27263" y="1990008"/>
            <a:ext cx="123443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Microsoft YaHei"/>
              </a:rPr>
              <a:t>决策</a:t>
            </a:r>
            <a:endParaRPr sz="14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464040" y="1417320"/>
            <a:ext cx="1508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37192" y="1453896"/>
            <a:ext cx="1362456" cy="57607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1100" b="1" dirty="0">
                <a:solidFill>
                  <a:srgbClr val="142644"/>
                </a:solidFill>
                <a:latin typeface="Microsoft YaHei"/>
              </a:rPr>
              <a:t>Candidate Sandbox
</a:t>
            </a:r>
            <a:r>
              <a:rPr sz="1100" b="1" dirty="0" err="1">
                <a:solidFill>
                  <a:srgbClr val="142644"/>
                </a:solidFill>
                <a:latin typeface="Microsoft YaHei"/>
              </a:rPr>
              <a:t>隔离补丁</a:t>
            </a:r>
            <a:endParaRPr sz="1100" b="1" dirty="0">
              <a:solidFill>
                <a:srgbClr val="142644"/>
              </a:solidFill>
              <a:latin typeface="Microsoft YaHe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582912" y="1984248"/>
            <a:ext cx="1271016" cy="256032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17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10343" y="1990008"/>
            <a:ext cx="123443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Microsoft YaHei"/>
              </a:rPr>
              <a:t>执行</a:t>
            </a:r>
            <a:endParaRPr sz="1400" b="1" dirty="0">
              <a:solidFill>
                <a:srgbClr val="FFFFFF"/>
              </a:solidFill>
              <a:latin typeface="Microsoft YaHei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2121408" y="1801368"/>
            <a:ext cx="137160" cy="0"/>
          </a:xfrm>
          <a:prstGeom prst="line">
            <a:avLst/>
          </a:prstGeom>
          <a:ln w="2159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904487" y="1801368"/>
            <a:ext cx="137161" cy="0"/>
          </a:xfrm>
          <a:prstGeom prst="line">
            <a:avLst/>
          </a:prstGeom>
          <a:ln w="2159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687568" y="1801368"/>
            <a:ext cx="137160" cy="0"/>
          </a:xfrm>
          <a:prstGeom prst="line">
            <a:avLst/>
          </a:prstGeom>
          <a:ln w="2159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70648" y="1801368"/>
            <a:ext cx="137160" cy="0"/>
          </a:xfrm>
          <a:prstGeom prst="line">
            <a:avLst/>
          </a:prstGeom>
          <a:ln w="2159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53728" y="1801368"/>
            <a:ext cx="137160" cy="0"/>
          </a:xfrm>
          <a:prstGeom prst="line">
            <a:avLst/>
          </a:prstGeom>
          <a:ln w="2159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874519" y="2907792"/>
            <a:ext cx="84582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246120" y="3054095"/>
            <a:ext cx="1143000" cy="730671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39" y="313639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 dirty="0" err="1">
                <a:solidFill>
                  <a:srgbClr val="26A65B"/>
                </a:solidFill>
                <a:latin typeface="Microsoft YaHei"/>
              </a:rPr>
              <a:t>CSim</a:t>
            </a:r>
            <a:endParaRPr sz="1150" b="1" dirty="0">
              <a:solidFill>
                <a:srgbClr val="26A65B"/>
              </a:solidFill>
              <a:latin typeface="Microsoft YaHe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14700" y="3350874"/>
            <a:ext cx="10515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dirty="0" err="1">
                <a:solidFill>
                  <a:srgbClr val="505C6E"/>
                </a:solidFill>
                <a:latin typeface="Microsoft YaHei"/>
              </a:rPr>
              <a:t>功能正确</a:t>
            </a:r>
            <a:endParaRPr sz="1100" b="0" dirty="0">
              <a:solidFill>
                <a:srgbClr val="505C6E"/>
              </a:solidFill>
              <a:latin typeface="Microsoft YaHe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316984" y="3567304"/>
            <a:ext cx="1010413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dirty="0">
                <a:solidFill>
                  <a:srgbClr val="6B778C"/>
                </a:solidFill>
                <a:latin typeface="Microsoft YaHei"/>
              </a:rPr>
              <a:t>1 credit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00600" y="3054096"/>
            <a:ext cx="1097280" cy="73067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46320" y="313639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3670D2"/>
                </a:solidFill>
                <a:latin typeface="Microsoft YaHei"/>
              </a:rPr>
              <a:t>Synth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23460" y="3346704"/>
            <a:ext cx="10515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dirty="0" err="1">
                <a:solidFill>
                  <a:srgbClr val="505C6E"/>
                </a:solidFill>
                <a:latin typeface="Microsoft YaHei"/>
              </a:rPr>
              <a:t>时序</a:t>
            </a:r>
            <a:r>
              <a:rPr sz="1100" b="0" dirty="0">
                <a:solidFill>
                  <a:srgbClr val="505C6E"/>
                </a:solidFill>
                <a:latin typeface="Microsoft YaHei"/>
              </a:rPr>
              <a:t>/</a:t>
            </a:r>
            <a:r>
              <a:rPr sz="1100" b="0" dirty="0" err="1">
                <a:solidFill>
                  <a:srgbClr val="505C6E"/>
                </a:solidFill>
                <a:latin typeface="Microsoft YaHei"/>
              </a:rPr>
              <a:t>资源</a:t>
            </a:r>
            <a:endParaRPr sz="1100" b="0" dirty="0">
              <a:solidFill>
                <a:srgbClr val="505C6E"/>
              </a:solidFill>
              <a:latin typeface="Microsoft YaHe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69180" y="3545529"/>
            <a:ext cx="10515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dirty="0">
                <a:solidFill>
                  <a:srgbClr val="6B778C"/>
                </a:solidFill>
                <a:latin typeface="Microsoft YaHei"/>
              </a:rPr>
              <a:t>4 credits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3054096"/>
            <a:ext cx="1143000" cy="73067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313639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D24848"/>
                </a:solidFill>
                <a:latin typeface="Microsoft YaHei"/>
              </a:rPr>
              <a:t>CoSim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5007" y="3346704"/>
            <a:ext cx="10515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dirty="0" err="1">
                <a:solidFill>
                  <a:srgbClr val="505C6E"/>
                </a:solidFill>
                <a:latin typeface="Microsoft YaHei"/>
              </a:rPr>
              <a:t>RTL结构</a:t>
            </a:r>
            <a:endParaRPr sz="1100" b="0" dirty="0">
              <a:solidFill>
                <a:srgbClr val="505C6E"/>
              </a:solidFill>
              <a:latin typeface="Microsoft YaHe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12230" y="3551081"/>
            <a:ext cx="10515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dirty="0">
                <a:solidFill>
                  <a:srgbClr val="6B778C"/>
                </a:solidFill>
                <a:latin typeface="Microsoft YaHei"/>
              </a:rPr>
              <a:t>20 credits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65008" y="3054095"/>
            <a:ext cx="1188720" cy="730669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10728" y="313639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F39C12"/>
                </a:solidFill>
                <a:latin typeface="Microsoft YaHei"/>
              </a:rPr>
              <a:t>Selector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10728" y="3346704"/>
            <a:ext cx="10515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dirty="0">
                <a:solidFill>
                  <a:srgbClr val="505C6E"/>
                </a:solidFill>
                <a:latin typeface="Microsoft YaHei"/>
              </a:rPr>
              <a:t>Pareto + </a:t>
            </a:r>
            <a:r>
              <a:rPr sz="1100" b="0" dirty="0" err="1">
                <a:solidFill>
                  <a:srgbClr val="505C6E"/>
                </a:solidFill>
                <a:latin typeface="Microsoft YaHei"/>
              </a:rPr>
              <a:t>约束</a:t>
            </a:r>
            <a:endParaRPr sz="1100" b="0" dirty="0">
              <a:solidFill>
                <a:srgbClr val="505C6E"/>
              </a:solidFill>
              <a:latin typeface="Microsoft YaHe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117586" y="3556910"/>
            <a:ext cx="10515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dirty="0" err="1">
                <a:solidFill>
                  <a:srgbClr val="6B778C"/>
                </a:solidFill>
                <a:latin typeface="Microsoft YaHei"/>
              </a:rPr>
              <a:t>晋升</a:t>
            </a:r>
            <a:r>
              <a:rPr sz="1100" b="0" dirty="0">
                <a:solidFill>
                  <a:srgbClr val="6B778C"/>
                </a:solidFill>
                <a:latin typeface="Microsoft YaHei"/>
              </a:rPr>
              <a:t>/</a:t>
            </a:r>
            <a:r>
              <a:rPr sz="1100" b="0" dirty="0" err="1">
                <a:solidFill>
                  <a:srgbClr val="6B778C"/>
                </a:solidFill>
                <a:latin typeface="Microsoft YaHei"/>
              </a:rPr>
              <a:t>回退</a:t>
            </a:r>
            <a:endParaRPr sz="1100" b="0" dirty="0">
              <a:solidFill>
                <a:srgbClr val="6B778C"/>
              </a:solidFill>
              <a:latin typeface="Microsoft YaHei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4389120" y="3337560"/>
            <a:ext cx="365760" cy="0"/>
          </a:xfrm>
          <a:prstGeom prst="line">
            <a:avLst/>
          </a:prstGeom>
          <a:ln w="17780">
            <a:solidFill>
              <a:srgbClr val="1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943600" y="3337560"/>
            <a:ext cx="365760" cy="0"/>
          </a:xfrm>
          <a:prstGeom prst="line">
            <a:avLst/>
          </a:prstGeom>
          <a:ln w="17780">
            <a:solidFill>
              <a:srgbClr val="1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498079" y="3337560"/>
            <a:ext cx="521209" cy="0"/>
          </a:xfrm>
          <a:prstGeom prst="line">
            <a:avLst/>
          </a:prstGeom>
          <a:ln w="17780">
            <a:solidFill>
              <a:srgbClr val="1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cxnSpLocks/>
          </p:cNvCxnSpPr>
          <p:nvPr/>
        </p:nvCxnSpPr>
        <p:spPr>
          <a:xfrm flipH="1">
            <a:off x="2542032" y="2267712"/>
            <a:ext cx="7653528" cy="649224"/>
          </a:xfrm>
          <a:prstGeom prst="line">
            <a:avLst/>
          </a:prstGeom>
          <a:ln w="25400">
            <a:solidFill>
              <a:srgbClr val="1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cxnSpLocks/>
          </p:cNvCxnSpPr>
          <p:nvPr/>
        </p:nvCxnSpPr>
        <p:spPr>
          <a:xfrm flipH="1">
            <a:off x="5868162" y="3630168"/>
            <a:ext cx="338858" cy="905256"/>
          </a:xfrm>
          <a:prstGeom prst="line">
            <a:avLst/>
          </a:prstGeom>
          <a:ln w="22860">
            <a:solidFill>
              <a:srgbClr val="F39C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643627" y="4594300"/>
            <a:ext cx="2362201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F39C12"/>
                </a:solidFill>
                <a:latin typeface="Microsoft YaHei"/>
              </a:rPr>
              <a:t>未达标：带着诊断返回下一轮</a:t>
            </a:r>
            <a:endParaRPr sz="1400" b="1" dirty="0">
              <a:solidFill>
                <a:srgbClr val="F39C12"/>
              </a:solidFill>
              <a:latin typeface="Microsoft YaHei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13817" y="5101997"/>
            <a:ext cx="3685032" cy="13605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97234" y="5270634"/>
            <a:ext cx="335988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dirty="0" err="1">
                <a:solidFill>
                  <a:srgbClr val="142644"/>
                </a:solidFill>
                <a:latin typeface="Microsoft YaHei"/>
              </a:rPr>
              <a:t>预算</a:t>
            </a:r>
            <a:r>
              <a:rPr lang="zh-CN" altLang="en-US" sz="20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sz="20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82846" y="5728106"/>
            <a:ext cx="330569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 err="1">
                <a:solidFill>
                  <a:srgbClr val="505C6E"/>
                </a:solidFill>
                <a:latin typeface="Microsoft YaHei"/>
              </a:rPr>
              <a:t>低成本</a:t>
            </a:r>
            <a:r>
              <a:rPr sz="1400" b="0" dirty="0">
                <a:solidFill>
                  <a:srgbClr val="505C6E"/>
                </a:solidFill>
                <a:latin typeface="Microsoft YaHei"/>
              </a:rPr>
              <a:t> </a:t>
            </a:r>
            <a:r>
              <a:rPr sz="1400" b="0" dirty="0" err="1">
                <a:solidFill>
                  <a:srgbClr val="505C6E"/>
                </a:solidFill>
                <a:latin typeface="Microsoft YaHei"/>
              </a:rPr>
              <a:t>CSim</a:t>
            </a:r>
            <a:r>
              <a:rPr sz="1400" b="0" dirty="0">
                <a:solidFill>
                  <a:srgbClr val="505C6E"/>
                </a:solidFill>
                <a:latin typeface="Microsoft YaHei"/>
              </a:rPr>
              <a:t> </a:t>
            </a:r>
            <a:r>
              <a:rPr sz="1400" b="0" dirty="0" err="1">
                <a:solidFill>
                  <a:srgbClr val="505C6E"/>
                </a:solidFill>
                <a:latin typeface="Microsoft YaHei"/>
              </a:rPr>
              <a:t>过滤候选，高成本</a:t>
            </a:r>
            <a:r>
              <a:rPr sz="1400" b="0" dirty="0">
                <a:solidFill>
                  <a:srgbClr val="505C6E"/>
                </a:solidFill>
                <a:latin typeface="Microsoft YaHei"/>
              </a:rPr>
              <a:t> CoSim </a:t>
            </a:r>
            <a:r>
              <a:rPr sz="1400" b="0" dirty="0" err="1">
                <a:solidFill>
                  <a:srgbClr val="505C6E"/>
                </a:solidFill>
                <a:latin typeface="Microsoft YaHei"/>
              </a:rPr>
              <a:t>只用于必要结构验证</a:t>
            </a:r>
            <a:r>
              <a:rPr sz="1400" b="0" dirty="0">
                <a:solidFill>
                  <a:srgbClr val="505C6E"/>
                </a:solidFill>
                <a:latin typeface="Microsoft YaHei"/>
              </a:rPr>
              <a:t>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682265" y="5103884"/>
            <a:ext cx="3382743" cy="13586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846858" y="5204468"/>
            <a:ext cx="3084266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dirty="0" err="1">
                <a:solidFill>
                  <a:srgbClr val="142644"/>
                </a:solidFill>
                <a:latin typeface="Microsoft YaHei"/>
              </a:rPr>
              <a:t>受约束修改</a:t>
            </a:r>
            <a:endParaRPr sz="2000" b="1" dirty="0">
              <a:solidFill>
                <a:srgbClr val="142644"/>
              </a:solidFill>
              <a:latin typeface="Microsoft YaHe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846857" y="5638248"/>
            <a:ext cx="30345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dirty="0" err="1">
                <a:solidFill>
                  <a:srgbClr val="505C6E"/>
                </a:solidFill>
                <a:latin typeface="Microsoft YaHei"/>
              </a:rPr>
              <a:t>动作只作用于授权</a:t>
            </a:r>
            <a:r>
              <a:rPr sz="1400" dirty="0">
                <a:solidFill>
                  <a:srgbClr val="505C6E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505C6E"/>
                </a:solidFill>
                <a:latin typeface="Microsoft YaHei"/>
              </a:rPr>
              <a:t>kernel，保护顶层签名、头文件和</a:t>
            </a:r>
            <a:r>
              <a:rPr sz="1400" dirty="0">
                <a:solidFill>
                  <a:srgbClr val="505C6E"/>
                </a:solidFill>
                <a:latin typeface="Microsoft YaHei"/>
              </a:rPr>
              <a:t> testbench。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312434" y="5103884"/>
            <a:ext cx="3322974" cy="13586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477026" y="5204468"/>
            <a:ext cx="302977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dirty="0" err="1">
                <a:solidFill>
                  <a:srgbClr val="142644"/>
                </a:solidFill>
                <a:latin typeface="Microsoft YaHei"/>
              </a:rPr>
              <a:t>证据链</a:t>
            </a:r>
            <a:endParaRPr sz="2000" b="1" dirty="0">
              <a:solidFill>
                <a:srgbClr val="142644"/>
              </a:solidFill>
              <a:latin typeface="Microsoft YaHei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477025" y="5579372"/>
            <a:ext cx="2980903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dirty="0" err="1">
                <a:solidFill>
                  <a:srgbClr val="505C6E"/>
                </a:solidFill>
                <a:latin typeface="Microsoft YaHei"/>
              </a:rPr>
              <a:t>每轮候选、动作、日志、指标和哈希都可追溯、可回退</a:t>
            </a:r>
            <a:r>
              <a:rPr sz="1400" dirty="0">
                <a:solidFill>
                  <a:srgbClr val="505C6E"/>
                </a:solidFill>
                <a:latin typeface="Microsoft YaHei"/>
              </a:rPr>
              <a:t>。</a:t>
            </a:r>
          </a:p>
        </p:txBody>
      </p:sp>
      <p:sp>
        <p:nvSpPr>
          <p:cNvPr id="81" name="TextBox 59">
            <a:extLst>
              <a:ext uri="{FF2B5EF4-FFF2-40B4-BE49-F238E27FC236}">
                <a16:creationId xmlns:a16="http://schemas.microsoft.com/office/drawing/2014/main" id="{F19916F3-14A7-1663-1E06-D342D38DC80E}"/>
              </a:ext>
            </a:extLst>
          </p:cNvPr>
          <p:cNvSpPr txBox="1"/>
          <p:nvPr/>
        </p:nvSpPr>
        <p:spPr>
          <a:xfrm>
            <a:off x="9674352" y="4167432"/>
            <a:ext cx="1706881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F39C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达标</a:t>
            </a:r>
            <a:r>
              <a:rPr sz="1400" b="1" dirty="0">
                <a:solidFill>
                  <a:srgbClr val="F39C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b="1" dirty="0">
                <a:solidFill>
                  <a:srgbClr val="F39C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最终候选冻结</a:t>
            </a:r>
            <a:endParaRPr sz="1400" b="1" dirty="0">
              <a:solidFill>
                <a:srgbClr val="F39C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2" name="Connector 57">
            <a:extLst>
              <a:ext uri="{FF2B5EF4-FFF2-40B4-BE49-F238E27FC236}">
                <a16:creationId xmlns:a16="http://schemas.microsoft.com/office/drawing/2014/main" id="{3198EAE1-0246-FB21-80A1-D5D462A70032}"/>
              </a:ext>
            </a:extLst>
          </p:cNvPr>
          <p:cNvCxnSpPr>
            <a:cxnSpLocks/>
          </p:cNvCxnSpPr>
          <p:nvPr/>
        </p:nvCxnSpPr>
        <p:spPr>
          <a:xfrm flipH="1" flipV="1">
            <a:off x="9208008" y="3762756"/>
            <a:ext cx="1124711" cy="322380"/>
          </a:xfrm>
          <a:prstGeom prst="line">
            <a:avLst/>
          </a:prstGeom>
          <a:ln w="22860">
            <a:solidFill>
              <a:srgbClr val="F39C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24">
            <a:extLst>
              <a:ext uri="{FF2B5EF4-FFF2-40B4-BE49-F238E27FC236}">
                <a16:creationId xmlns:a16="http://schemas.microsoft.com/office/drawing/2014/main" id="{0381A5A4-1EDC-0CAA-6400-2ED378F80BDF}"/>
              </a:ext>
            </a:extLst>
          </p:cNvPr>
          <p:cNvSpPr/>
          <p:nvPr/>
        </p:nvSpPr>
        <p:spPr>
          <a:xfrm>
            <a:off x="1924812" y="2962656"/>
            <a:ext cx="1051560" cy="28357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8" name="Rounded Rectangle 8">
            <a:extLst>
              <a:ext uri="{FF2B5EF4-FFF2-40B4-BE49-F238E27FC236}">
                <a16:creationId xmlns:a16="http://schemas.microsoft.com/office/drawing/2014/main" id="{29FE071D-F790-179C-399D-5D2B89B807F0}"/>
              </a:ext>
            </a:extLst>
          </p:cNvPr>
          <p:cNvSpPr/>
          <p:nvPr/>
        </p:nvSpPr>
        <p:spPr>
          <a:xfrm>
            <a:off x="2450592" y="1993392"/>
            <a:ext cx="1271016" cy="256032"/>
          </a:xfrm>
          <a:prstGeom prst="roundRect">
            <a:avLst/>
          </a:prstGeom>
          <a:solidFill>
            <a:srgbClr val="179EBE"/>
          </a:solidFill>
          <a:ln w="12700">
            <a:solidFill>
              <a:srgbClr val="17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">
            <a:extLst>
              <a:ext uri="{FF2B5EF4-FFF2-40B4-BE49-F238E27FC236}">
                <a16:creationId xmlns:a16="http://schemas.microsoft.com/office/drawing/2014/main" id="{26152A58-E632-8C14-3CA0-D26310C281AE}"/>
              </a:ext>
            </a:extLst>
          </p:cNvPr>
          <p:cNvSpPr txBox="1"/>
          <p:nvPr/>
        </p:nvSpPr>
        <p:spPr>
          <a:xfrm>
            <a:off x="2496312" y="2012325"/>
            <a:ext cx="123443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Microsoft YaHei"/>
              </a:rPr>
              <a:t>输入</a:t>
            </a:r>
            <a:endParaRPr sz="14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096262" y="2975765"/>
            <a:ext cx="10515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chemeClr val="bg1"/>
                </a:solidFill>
                <a:latin typeface="Microsoft YaHei"/>
              </a:rPr>
              <a:t>分级验证</a:t>
            </a:r>
            <a:endParaRPr sz="1400" b="1" dirty="0">
              <a:solidFill>
                <a:schemeClr val="bg1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680" y="210312"/>
            <a:ext cx="7402026" cy="47705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特点一：状态机驱动，而不是自由对话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896112"/>
            <a:ext cx="914400" cy="50292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435607" y="1411808"/>
            <a:ext cx="1828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08759" y="1539824"/>
            <a:ext cx="168249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D248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CSIM_FAILED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5335" y="1805000"/>
            <a:ext cx="160934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功能错误</a:t>
            </a:r>
            <a:r>
              <a:rPr sz="12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</a:t>
            </a:r>
            <a:r>
              <a:rPr sz="12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先修正确性</a:t>
            </a:r>
            <a:endParaRPr sz="1200" b="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75887" y="1411808"/>
            <a:ext cx="227990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49039" y="1539824"/>
            <a:ext cx="20747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F39C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CORRECT_UNOPTIMIZED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1168" y="1823288"/>
            <a:ext cx="160934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正确但慢</a:t>
            </a:r>
            <a:r>
              <a:rPr sz="12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</a:t>
            </a:r>
            <a:r>
              <a:rPr sz="12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进入性能优化</a:t>
            </a:r>
            <a:endParaRPr sz="1200" b="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41008" y="1411808"/>
            <a:ext cx="1828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14160" y="1539824"/>
            <a:ext cx="168249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D248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COSIM_FAILED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0736" y="1805000"/>
            <a:ext cx="160934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结构性失败
定位死锁/背压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5023" y="1411808"/>
            <a:ext cx="1828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28175" y="1539824"/>
            <a:ext cx="168249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26A6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OPTIMIZED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4751" y="1805000"/>
            <a:ext cx="160934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三阶段通过
冻结候选</a:t>
            </a:r>
          </a:p>
        </p:txBody>
      </p:sp>
      <p:cxnSp>
        <p:nvCxnSpPr>
          <p:cNvPr id="18" name="Connector 17"/>
          <p:cNvCxnSpPr>
            <a:cxnSpLocks/>
            <a:stCxn id="6" idx="3"/>
            <a:endCxn id="9" idx="1"/>
          </p:cNvCxnSpPr>
          <p:nvPr/>
        </p:nvCxnSpPr>
        <p:spPr>
          <a:xfrm>
            <a:off x="3264407" y="1814144"/>
            <a:ext cx="411480" cy="0"/>
          </a:xfrm>
          <a:prstGeom prst="line">
            <a:avLst/>
          </a:prstGeom>
          <a:ln w="2286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stCxn id="9" idx="3"/>
            <a:endCxn id="12" idx="1"/>
          </p:cNvCxnSpPr>
          <p:nvPr/>
        </p:nvCxnSpPr>
        <p:spPr>
          <a:xfrm>
            <a:off x="5955793" y="1814144"/>
            <a:ext cx="585215" cy="0"/>
          </a:xfrm>
          <a:prstGeom prst="line">
            <a:avLst/>
          </a:prstGeom>
          <a:ln w="2286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  <a:stCxn id="12" idx="3"/>
            <a:endCxn id="15" idx="1"/>
          </p:cNvCxnSpPr>
          <p:nvPr/>
        </p:nvCxnSpPr>
        <p:spPr>
          <a:xfrm>
            <a:off x="8369808" y="1814144"/>
            <a:ext cx="585215" cy="0"/>
          </a:xfrm>
          <a:prstGeom prst="line">
            <a:avLst/>
          </a:prstGeom>
          <a:ln w="2286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79" y="2680008"/>
            <a:ext cx="3219475" cy="13893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68679" y="2680008"/>
            <a:ext cx="80487" cy="1389371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3270" y="2780591"/>
            <a:ext cx="291764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zh-CN" altLang="en-US"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指示</a:t>
            </a:r>
            <a:r>
              <a:rPr sz="14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下一步搜索空间</a:t>
            </a:r>
            <a:endParaRPr sz="14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33270" y="3155497"/>
            <a:ext cx="2867345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同一段代码在不同状态下可采取完全不同动作：功能错误先修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bug；正确未优化才考虑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pipeline/unroll/</a:t>
            </a:r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bitwidth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2680008"/>
            <a:ext cx="3219475" cy="13893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80559" y="2680008"/>
            <a:ext cx="80487" cy="1389371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45151" y="2780591"/>
            <a:ext cx="291764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r>
              <a:rPr lang="zh-CN" altLang="en-US"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sz="14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可校验</a:t>
            </a:r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0302" y="3155497"/>
            <a:ext cx="2867345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 Schema </a:t>
            </a:r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限定修改类型、目标文件、匹配次数和验证阶段；非法动作在进入工具前被拒绝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39" y="2680008"/>
            <a:ext cx="3219475" cy="13893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092439" y="2680008"/>
            <a:ext cx="80487" cy="1389371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57030" y="2780591"/>
            <a:ext cx="291764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证据</a:t>
            </a:r>
            <a:r>
              <a:rPr lang="zh-CN" altLang="en-US"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指示</a:t>
            </a:r>
            <a:r>
              <a:rPr sz="14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结构化运行记录</a:t>
            </a:r>
            <a:endParaRPr sz="14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31024" y="3173324"/>
            <a:ext cx="2867345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每轮保存候选、action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plan、Vitis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报告、指标、预算和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SHA-256，形成可追溯证据链。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617720"/>
            <a:ext cx="10149840" cy="804672"/>
          </a:xfrm>
          <a:prstGeom prst="roundRect">
            <a:avLst/>
          </a:prstGeom>
          <a:solidFill>
            <a:srgbClr val="142644"/>
          </a:solidFill>
          <a:ln w="12700">
            <a:solidFill>
              <a:srgbClr val="14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78992" y="4800600"/>
            <a:ext cx="973836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实际项目中，Projection、Dot Product、Residual 分别覆盖了 CSIM_FAILED、CORRECT_UNOPTIMIZED、COSIM_FAILED 三种典型状态，并最终都进入可冻结候选。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680" y="210312"/>
            <a:ext cx="10789920" cy="56692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42644"/>
                </a:solidFill>
                <a:latin typeface="Microsoft YaHei"/>
              </a:rPr>
              <a:t>Agent 特点二：预算感知，让昂贵验证只发生在必要时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896112"/>
            <a:ext cx="914400" cy="50292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2618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42644"/>
                </a:solidFill>
                <a:latin typeface="Microsoft YaHei"/>
              </a:rPr>
              <a:t>验证成本阶梯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24231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39" y="1947672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42644"/>
                </a:solidFill>
                <a:latin typeface="Microsoft YaHei"/>
              </a:rPr>
              <a:t>CSim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4767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26A65B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6663" y="194767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78C"/>
                </a:solidFill>
                <a:latin typeface="Microsoft YaHei"/>
              </a:rPr>
              <a:t>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542032"/>
            <a:ext cx="24231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39" y="2660903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42644"/>
                </a:solidFill>
                <a:latin typeface="Microsoft YaHei"/>
              </a:rPr>
              <a:t>Synth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60903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3670D2"/>
                </a:solidFill>
                <a:latin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3" y="2660903"/>
            <a:ext cx="228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78C"/>
                </a:solidFill>
                <a:latin typeface="Microsoft YaHei"/>
              </a:rPr>
              <a:t>cr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3255264"/>
            <a:ext cx="24231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3374136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42644"/>
                </a:solidFill>
                <a:latin typeface="Microsoft YaHei"/>
              </a:rPr>
              <a:t>CoSim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374136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>
                <a:solidFill>
                  <a:srgbClr val="D24848"/>
                </a:solidFill>
                <a:latin typeface="Microsoft YaHei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1063" y="3374136"/>
            <a:ext cx="228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78C"/>
                </a:solidFill>
                <a:latin typeface="Microsoft YaHei"/>
              </a:rPr>
              <a:t>cr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3448" y="1189265"/>
            <a:ext cx="66294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17768" y="1427009"/>
            <a:ext cx="6080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 err="1">
                <a:solidFill>
                  <a:srgbClr val="142644"/>
                </a:solidFill>
                <a:latin typeface="Microsoft YaHei"/>
              </a:rPr>
              <a:t>从“能跑”到“值得晋升”的判断</a:t>
            </a:r>
            <a:endParaRPr sz="1600" b="1" dirty="0">
              <a:solidFill>
                <a:srgbClr val="142644"/>
              </a:solidFill>
              <a:latin typeface="Microsoft YaHe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809208" y="1948217"/>
            <a:ext cx="5897880" cy="384048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900648" y="2021369"/>
            <a:ext cx="594360" cy="256032"/>
          </a:xfrm>
          <a:prstGeom prst="roundRect">
            <a:avLst/>
          </a:prstGeom>
          <a:solidFill>
            <a:srgbClr val="26A65B"/>
          </a:solidFill>
          <a:ln w="12700">
            <a:solidFill>
              <a:srgbClr val="26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18935" y="2057945"/>
            <a:ext cx="55778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G1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4736" y="2021369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b="1">
                <a:solidFill>
                  <a:srgbClr val="142644"/>
                </a:solidFill>
                <a:latin typeface="Microsoft YaHei"/>
              </a:rPr>
              <a:t>Correctness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6648" y="2021369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05C6E"/>
                </a:solidFill>
                <a:latin typeface="Microsoft YaHei"/>
              </a:rPr>
              <a:t>CSim 必须通过；失败候选不进入综合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9208" y="2478569"/>
            <a:ext cx="5897880" cy="384048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900648" y="2551721"/>
            <a:ext cx="594360" cy="256032"/>
          </a:xfrm>
          <a:prstGeom prst="roundRect">
            <a:avLst/>
          </a:prstGeom>
          <a:solidFill>
            <a:srgbClr val="3670D2"/>
          </a:solidFill>
          <a:ln w="12700">
            <a:solidFill>
              <a:srgbClr val="36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18935" y="2588297"/>
            <a:ext cx="55778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G2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4736" y="2551721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b="1">
                <a:solidFill>
                  <a:srgbClr val="142644"/>
                </a:solidFill>
                <a:latin typeface="Microsoft YaHei"/>
              </a:rPr>
              <a:t>Feasibility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6648" y="2551721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05C6E"/>
                </a:solidFill>
                <a:latin typeface="Microsoft YaHei"/>
              </a:rPr>
              <a:t>Synth 解析 latency / II / Fmax / resources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9208" y="3008921"/>
            <a:ext cx="5897880" cy="384048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900648" y="3082073"/>
            <a:ext cx="594360" cy="256032"/>
          </a:xfrm>
          <a:prstGeom prst="roundRect">
            <a:avLst/>
          </a:prstGeom>
          <a:solidFill>
            <a:srgbClr val="D24848"/>
          </a:solidFill>
          <a:ln w="12700">
            <a:solidFill>
              <a:srgbClr val="D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18935" y="3118649"/>
            <a:ext cx="55778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G3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4736" y="3082073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b="1">
                <a:solidFill>
                  <a:srgbClr val="142644"/>
                </a:solidFill>
                <a:latin typeface="Microsoft YaHei"/>
              </a:rPr>
              <a:t>Structure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86648" y="3082073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05C6E"/>
                </a:solidFill>
                <a:latin typeface="Microsoft YaHei"/>
              </a:rPr>
              <a:t>CoSim 只对结构风险或最终候选运行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9208" y="3539273"/>
            <a:ext cx="5897880" cy="384048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900648" y="3612424"/>
            <a:ext cx="594360" cy="256032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18935" y="3649000"/>
            <a:ext cx="55778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G4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4736" y="361242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b="1">
                <a:solidFill>
                  <a:srgbClr val="142644"/>
                </a:solidFill>
                <a:latin typeface="Microsoft YaHei"/>
              </a:rPr>
              <a:t>Selection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86648" y="3612424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05C6E"/>
                </a:solidFill>
                <a:latin typeface="Microsoft YaHei"/>
              </a:rPr>
              <a:t>通过约束后再做 Pareto / 加速比 / 资源取舍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3327" y="4755425"/>
            <a:ext cx="3209609" cy="1112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63327" y="4755425"/>
            <a:ext cx="80240" cy="1112480"/>
          </a:xfrm>
          <a:prstGeom prst="rect">
            <a:avLst/>
          </a:prstGeom>
          <a:solidFill>
            <a:srgbClr val="1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37600" y="4856008"/>
            <a:ext cx="290870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 err="1">
                <a:solidFill>
                  <a:srgbClr val="142644"/>
                </a:solidFill>
                <a:latin typeface="Microsoft YaHei"/>
              </a:rPr>
              <a:t>效果</a:t>
            </a:r>
            <a:endParaRPr sz="1600" b="1" dirty="0">
              <a:solidFill>
                <a:srgbClr val="142644"/>
              </a:solidFill>
              <a:latin typeface="Microsoft YaHe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27918" y="5230911"/>
            <a:ext cx="291691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 err="1">
                <a:solidFill>
                  <a:srgbClr val="505C6E"/>
                </a:solidFill>
                <a:latin typeface="Microsoft YaHei"/>
              </a:rPr>
              <a:t>避免“每个候选都CoSim”的高成本策略；也避免未验证候选被误晋升</a:t>
            </a:r>
            <a:r>
              <a:rPr sz="1200" b="0" dirty="0">
                <a:solidFill>
                  <a:srgbClr val="505C6E"/>
                </a:solidFill>
                <a:latin typeface="Microsoft YaHei"/>
              </a:rPr>
              <a:t>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43448" y="4755425"/>
            <a:ext cx="3309910" cy="1112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443447" y="4755425"/>
            <a:ext cx="80240" cy="1112480"/>
          </a:xfrm>
          <a:prstGeom prst="rect">
            <a:avLst/>
          </a:prstGeom>
          <a:solidFill>
            <a:srgbClr val="D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17720" y="4856008"/>
            <a:ext cx="300900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42644"/>
                </a:solidFill>
                <a:latin typeface="Microsoft YaHei"/>
              </a:rPr>
              <a:t>项目证据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8040" y="5230911"/>
            <a:ext cx="3019262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05C6E"/>
                </a:solidFill>
                <a:latin typeface="Microsoft YaHei"/>
              </a:rPr>
              <a:t>Residual baseline 在 CoSim 中暴露 deadlock，证明 CSim PASS 并不等于 RTL PASS。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18167" y="4755425"/>
            <a:ext cx="3460360" cy="1112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918167" y="4755425"/>
            <a:ext cx="80240" cy="111248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92439" y="4856008"/>
            <a:ext cx="315945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42644"/>
                </a:solidFill>
                <a:latin typeface="Microsoft YaHei"/>
              </a:rPr>
              <a:t>发布策略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82757" y="5230911"/>
            <a:ext cx="317278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05C6E"/>
                </a:solidFill>
                <a:latin typeface="Microsoft YaHei"/>
              </a:rPr>
              <a:t>候选最终冻结前必须有哈希、报告、验证阶段和选择理由。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902F2-7812-1922-BFC7-C2782F6A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5FCE07-771F-AF2D-52B0-FDCE72365B98}"/>
              </a:ext>
            </a:extLst>
          </p:cNvPr>
          <p:cNvSpPr txBox="1"/>
          <p:nvPr/>
        </p:nvSpPr>
        <p:spPr>
          <a:xfrm>
            <a:off x="868680" y="315727"/>
            <a:ext cx="5061642" cy="47705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lang="en-US" sz="28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Rule / LLM Planner </a:t>
            </a:r>
            <a:r>
              <a:rPr lang="zh-CN" altLang="en-US" sz="28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决策机制</a:t>
            </a:r>
            <a:endParaRPr sz="28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2EDC70-66C4-85C6-5A7B-3DA3D465C981}"/>
              </a:ext>
            </a:extLst>
          </p:cNvPr>
          <p:cNvSpPr/>
          <p:nvPr/>
        </p:nvSpPr>
        <p:spPr>
          <a:xfrm>
            <a:off x="868680" y="896112"/>
            <a:ext cx="914400" cy="50292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902FE54-94C8-CE03-27AF-4CBDF594A28E}"/>
              </a:ext>
            </a:extLst>
          </p:cNvPr>
          <p:cNvGrpSpPr/>
          <p:nvPr/>
        </p:nvGrpSpPr>
        <p:grpSpPr>
          <a:xfrm>
            <a:off x="575464" y="2070041"/>
            <a:ext cx="1583065" cy="650960"/>
            <a:chOff x="1160135" y="2824971"/>
            <a:chExt cx="2031937" cy="60402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DA35FE91-DC3F-8E2C-CE36-FE48003F37B8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5916E3-74E0-E68A-F38D-5D769B738F8A}"/>
                </a:ext>
              </a:extLst>
            </p:cNvPr>
            <p:cNvSpPr txBox="1"/>
            <p:nvPr/>
          </p:nvSpPr>
          <p:spPr>
            <a:xfrm>
              <a:off x="1211727" y="3007938"/>
              <a:ext cx="191201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Current state</a:t>
              </a:r>
            </a:p>
          </p:txBody>
        </p:sp>
      </p:grpSp>
      <p:cxnSp>
        <p:nvCxnSpPr>
          <p:cNvPr id="16" name="Connector 20">
            <a:extLst>
              <a:ext uri="{FF2B5EF4-FFF2-40B4-BE49-F238E27FC236}">
                <a16:creationId xmlns:a16="http://schemas.microsoft.com/office/drawing/2014/main" id="{2649E92C-1463-DE48-B021-2FCE8726F49B}"/>
              </a:ext>
            </a:extLst>
          </p:cNvPr>
          <p:cNvCxnSpPr>
            <a:cxnSpLocks/>
          </p:cNvCxnSpPr>
          <p:nvPr/>
        </p:nvCxnSpPr>
        <p:spPr>
          <a:xfrm>
            <a:off x="2158529" y="2395521"/>
            <a:ext cx="312168" cy="0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20">
            <a:extLst>
              <a:ext uri="{FF2B5EF4-FFF2-40B4-BE49-F238E27FC236}">
                <a16:creationId xmlns:a16="http://schemas.microsoft.com/office/drawing/2014/main" id="{919F71D7-8839-524D-1F4F-36A373E69409}"/>
              </a:ext>
            </a:extLst>
          </p:cNvPr>
          <p:cNvCxnSpPr>
            <a:cxnSpLocks/>
          </p:cNvCxnSpPr>
          <p:nvPr/>
        </p:nvCxnSpPr>
        <p:spPr>
          <a:xfrm flipV="1">
            <a:off x="4450887" y="1968353"/>
            <a:ext cx="300237" cy="418516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0">
            <a:extLst>
              <a:ext uri="{FF2B5EF4-FFF2-40B4-BE49-F238E27FC236}">
                <a16:creationId xmlns:a16="http://schemas.microsoft.com/office/drawing/2014/main" id="{3198BF4C-4900-E130-B363-6AB6D988DEA5}"/>
              </a:ext>
            </a:extLst>
          </p:cNvPr>
          <p:cNvCxnSpPr>
            <a:cxnSpLocks/>
          </p:cNvCxnSpPr>
          <p:nvPr/>
        </p:nvCxnSpPr>
        <p:spPr>
          <a:xfrm>
            <a:off x="4450887" y="2380980"/>
            <a:ext cx="348682" cy="340021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A7A531D-47EA-230C-DFF4-A852E8C92A59}"/>
              </a:ext>
            </a:extLst>
          </p:cNvPr>
          <p:cNvGrpSpPr/>
          <p:nvPr/>
        </p:nvGrpSpPr>
        <p:grpSpPr>
          <a:xfrm>
            <a:off x="4751124" y="2482669"/>
            <a:ext cx="1583065" cy="650960"/>
            <a:chOff x="1160135" y="2824971"/>
            <a:chExt cx="2031937" cy="604029"/>
          </a:xfrm>
        </p:grpSpPr>
        <p:sp>
          <p:nvSpPr>
            <p:cNvPr id="31" name="Rounded Rectangle 5">
              <a:extLst>
                <a:ext uri="{FF2B5EF4-FFF2-40B4-BE49-F238E27FC236}">
                  <a16:creationId xmlns:a16="http://schemas.microsoft.com/office/drawing/2014/main" id="{5F1C1112-8B7E-4EF7-E1DA-857ECCC78B12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Box 7">
              <a:extLst>
                <a:ext uri="{FF2B5EF4-FFF2-40B4-BE49-F238E27FC236}">
                  <a16:creationId xmlns:a16="http://schemas.microsoft.com/office/drawing/2014/main" id="{2D632351-F485-8C66-9965-7F7A3FF6C52F}"/>
                </a:ext>
              </a:extLst>
            </p:cNvPr>
            <p:cNvSpPr txBox="1"/>
            <p:nvPr/>
          </p:nvSpPr>
          <p:spPr>
            <a:xfrm>
              <a:off x="1211727" y="3007938"/>
              <a:ext cx="1912010" cy="19991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LLM Planner</a:t>
              </a:r>
            </a:p>
          </p:txBody>
        </p:sp>
      </p:grpSp>
      <p:cxnSp>
        <p:nvCxnSpPr>
          <p:cNvPr id="33" name="Connector 20">
            <a:extLst>
              <a:ext uri="{FF2B5EF4-FFF2-40B4-BE49-F238E27FC236}">
                <a16:creationId xmlns:a16="http://schemas.microsoft.com/office/drawing/2014/main" id="{C0B37517-8654-F473-275A-54C793278A03}"/>
              </a:ext>
            </a:extLst>
          </p:cNvPr>
          <p:cNvCxnSpPr>
            <a:cxnSpLocks/>
          </p:cNvCxnSpPr>
          <p:nvPr/>
        </p:nvCxnSpPr>
        <p:spPr>
          <a:xfrm>
            <a:off x="6334189" y="1957755"/>
            <a:ext cx="439515" cy="0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20">
            <a:extLst>
              <a:ext uri="{FF2B5EF4-FFF2-40B4-BE49-F238E27FC236}">
                <a16:creationId xmlns:a16="http://schemas.microsoft.com/office/drawing/2014/main" id="{2A7E063C-799F-F993-0D9F-6F0B1582F3C0}"/>
              </a:ext>
            </a:extLst>
          </p:cNvPr>
          <p:cNvCxnSpPr>
            <a:cxnSpLocks/>
          </p:cNvCxnSpPr>
          <p:nvPr/>
        </p:nvCxnSpPr>
        <p:spPr>
          <a:xfrm>
            <a:off x="6334189" y="2808911"/>
            <a:ext cx="439515" cy="0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50E27DC-C6B5-8594-2ADD-02ABC4DEDA42}"/>
              </a:ext>
            </a:extLst>
          </p:cNvPr>
          <p:cNvGrpSpPr/>
          <p:nvPr/>
        </p:nvGrpSpPr>
        <p:grpSpPr>
          <a:xfrm>
            <a:off x="6773704" y="1642873"/>
            <a:ext cx="1583065" cy="650960"/>
            <a:chOff x="1160135" y="2824971"/>
            <a:chExt cx="2031937" cy="604029"/>
          </a:xfrm>
        </p:grpSpPr>
        <p:sp>
          <p:nvSpPr>
            <p:cNvPr id="37" name="Rounded Rectangle 5">
              <a:extLst>
                <a:ext uri="{FF2B5EF4-FFF2-40B4-BE49-F238E27FC236}">
                  <a16:creationId xmlns:a16="http://schemas.microsoft.com/office/drawing/2014/main" id="{9AA2AD23-E30C-9CB0-A244-DBA5DFC69929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Box 7">
              <a:extLst>
                <a:ext uri="{FF2B5EF4-FFF2-40B4-BE49-F238E27FC236}">
                  <a16:creationId xmlns:a16="http://schemas.microsoft.com/office/drawing/2014/main" id="{CEC409B7-AB64-9696-8DF0-3C653FE625C0}"/>
                </a:ext>
              </a:extLst>
            </p:cNvPr>
            <p:cNvSpPr txBox="1"/>
            <p:nvPr/>
          </p:nvSpPr>
          <p:spPr>
            <a:xfrm>
              <a:off x="1211727" y="3007938"/>
              <a:ext cx="1912010" cy="19991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Fast Action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9816A44B-2011-9D5B-B9A9-A80639D22583}"/>
              </a:ext>
            </a:extLst>
          </p:cNvPr>
          <p:cNvGrpSpPr/>
          <p:nvPr/>
        </p:nvGrpSpPr>
        <p:grpSpPr>
          <a:xfrm>
            <a:off x="6767181" y="2479384"/>
            <a:ext cx="1583065" cy="650960"/>
            <a:chOff x="1160135" y="2824971"/>
            <a:chExt cx="2031937" cy="604029"/>
          </a:xfrm>
        </p:grpSpPr>
        <p:sp>
          <p:nvSpPr>
            <p:cNvPr id="40" name="Rounded Rectangle 5">
              <a:extLst>
                <a:ext uri="{FF2B5EF4-FFF2-40B4-BE49-F238E27FC236}">
                  <a16:creationId xmlns:a16="http://schemas.microsoft.com/office/drawing/2014/main" id="{78ED08B8-8447-C9FA-07F9-AACBC49F9E5C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TextBox 7">
              <a:extLst>
                <a:ext uri="{FF2B5EF4-FFF2-40B4-BE49-F238E27FC236}">
                  <a16:creationId xmlns:a16="http://schemas.microsoft.com/office/drawing/2014/main" id="{8854D08A-F517-A2FC-51FC-DC7A2ACC3786}"/>
                </a:ext>
              </a:extLst>
            </p:cNvPr>
            <p:cNvSpPr txBox="1"/>
            <p:nvPr/>
          </p:nvSpPr>
          <p:spPr>
            <a:xfrm>
              <a:off x="1236842" y="2918730"/>
              <a:ext cx="1912010" cy="39982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Complex Reasoning</a:t>
              </a:r>
            </a:p>
          </p:txBody>
        </p:sp>
      </p:grpSp>
      <p:cxnSp>
        <p:nvCxnSpPr>
          <p:cNvPr id="58" name="Connector 20">
            <a:extLst>
              <a:ext uri="{FF2B5EF4-FFF2-40B4-BE49-F238E27FC236}">
                <a16:creationId xmlns:a16="http://schemas.microsoft.com/office/drawing/2014/main" id="{37EF07B8-8E1E-A3C9-C31E-3E7A65AD6DFB}"/>
              </a:ext>
            </a:extLst>
          </p:cNvPr>
          <p:cNvCxnSpPr>
            <a:cxnSpLocks/>
            <a:endCxn id="70" idx="1"/>
          </p:cNvCxnSpPr>
          <p:nvPr/>
        </p:nvCxnSpPr>
        <p:spPr>
          <a:xfrm flipV="1">
            <a:off x="8356769" y="490199"/>
            <a:ext cx="510580" cy="1458269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20">
            <a:extLst>
              <a:ext uri="{FF2B5EF4-FFF2-40B4-BE49-F238E27FC236}">
                <a16:creationId xmlns:a16="http://schemas.microsoft.com/office/drawing/2014/main" id="{30C2F894-DD58-64B2-6CBF-33AC7C88C02A}"/>
              </a:ext>
            </a:extLst>
          </p:cNvPr>
          <p:cNvCxnSpPr>
            <a:cxnSpLocks/>
            <a:endCxn id="75" idx="1"/>
          </p:cNvCxnSpPr>
          <p:nvPr/>
        </p:nvCxnSpPr>
        <p:spPr>
          <a:xfrm flipV="1">
            <a:off x="8356769" y="986408"/>
            <a:ext cx="505629" cy="952718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A45CBAF5-5795-C983-9EC3-4FEF68946292}"/>
              </a:ext>
            </a:extLst>
          </p:cNvPr>
          <p:cNvGrpSpPr/>
          <p:nvPr/>
        </p:nvGrpSpPr>
        <p:grpSpPr>
          <a:xfrm>
            <a:off x="8867349" y="306526"/>
            <a:ext cx="1201463" cy="367346"/>
            <a:chOff x="1160135" y="2824971"/>
            <a:chExt cx="2031937" cy="604029"/>
          </a:xfrm>
        </p:grpSpPr>
        <p:sp>
          <p:nvSpPr>
            <p:cNvPr id="70" name="Rounded Rectangle 5">
              <a:extLst>
                <a:ext uri="{FF2B5EF4-FFF2-40B4-BE49-F238E27FC236}">
                  <a16:creationId xmlns:a16="http://schemas.microsoft.com/office/drawing/2014/main" id="{D159D13A-C5BA-CDB4-1557-41E95ED7B168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TextBox 7">
              <a:extLst>
                <a:ext uri="{FF2B5EF4-FFF2-40B4-BE49-F238E27FC236}">
                  <a16:creationId xmlns:a16="http://schemas.microsoft.com/office/drawing/2014/main" id="{0F0400C1-8F18-C1CA-4773-3B434E263ABF}"/>
                </a:ext>
              </a:extLst>
            </p:cNvPr>
            <p:cNvSpPr txBox="1"/>
            <p:nvPr/>
          </p:nvSpPr>
          <p:spPr>
            <a:xfrm>
              <a:off x="1211727" y="3007938"/>
              <a:ext cx="1912010" cy="19991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语法错误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07F235A1-90B0-11FD-D88D-FF7E3625F42D}"/>
              </a:ext>
            </a:extLst>
          </p:cNvPr>
          <p:cNvGrpSpPr/>
          <p:nvPr/>
        </p:nvGrpSpPr>
        <p:grpSpPr>
          <a:xfrm>
            <a:off x="8862398" y="802735"/>
            <a:ext cx="1201463" cy="367346"/>
            <a:chOff x="1160135" y="2824971"/>
            <a:chExt cx="2031937" cy="604029"/>
          </a:xfrm>
        </p:grpSpPr>
        <p:sp>
          <p:nvSpPr>
            <p:cNvPr id="75" name="Rounded Rectangle 5">
              <a:extLst>
                <a:ext uri="{FF2B5EF4-FFF2-40B4-BE49-F238E27FC236}">
                  <a16:creationId xmlns:a16="http://schemas.microsoft.com/office/drawing/2014/main" id="{D77091CE-730D-6A03-5FE1-C2C518D8A7A8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TextBox 7">
              <a:extLst>
                <a:ext uri="{FF2B5EF4-FFF2-40B4-BE49-F238E27FC236}">
                  <a16:creationId xmlns:a16="http://schemas.microsoft.com/office/drawing/2014/main" id="{DFD4CA20-A44E-CF0D-1A3C-B3BFAADC7B43}"/>
                </a:ext>
              </a:extLst>
            </p:cNvPr>
            <p:cNvSpPr txBox="1"/>
            <p:nvPr/>
          </p:nvSpPr>
          <p:spPr>
            <a:xfrm>
              <a:off x="1211727" y="3007938"/>
              <a:ext cx="1912010" cy="19991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接口错误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55E7AC2B-F32F-CB0B-9377-42B1C5F8B83A}"/>
              </a:ext>
            </a:extLst>
          </p:cNvPr>
          <p:cNvGrpSpPr/>
          <p:nvPr/>
        </p:nvGrpSpPr>
        <p:grpSpPr>
          <a:xfrm>
            <a:off x="8868814" y="1327970"/>
            <a:ext cx="1201463" cy="367346"/>
            <a:chOff x="1160135" y="2824971"/>
            <a:chExt cx="2031937" cy="604029"/>
          </a:xfrm>
        </p:grpSpPr>
        <p:sp>
          <p:nvSpPr>
            <p:cNvPr id="79" name="Rounded Rectangle 5">
              <a:extLst>
                <a:ext uri="{FF2B5EF4-FFF2-40B4-BE49-F238E27FC236}">
                  <a16:creationId xmlns:a16="http://schemas.microsoft.com/office/drawing/2014/main" id="{F289FDED-2335-E6C6-32BE-3A513D46329E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TextBox 7">
              <a:extLst>
                <a:ext uri="{FF2B5EF4-FFF2-40B4-BE49-F238E27FC236}">
                  <a16:creationId xmlns:a16="http://schemas.microsoft.com/office/drawing/2014/main" id="{F895CD34-8844-5BFF-94D7-714CEAE056E9}"/>
                </a:ext>
              </a:extLst>
            </p:cNvPr>
            <p:cNvSpPr txBox="1"/>
            <p:nvPr/>
          </p:nvSpPr>
          <p:spPr>
            <a:xfrm>
              <a:off x="1211727" y="3007938"/>
              <a:ext cx="1912010" cy="19991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已知死锁模式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9C232A04-4938-CE76-21BF-11BCA03EA906}"/>
              </a:ext>
            </a:extLst>
          </p:cNvPr>
          <p:cNvGrpSpPr/>
          <p:nvPr/>
        </p:nvGrpSpPr>
        <p:grpSpPr>
          <a:xfrm>
            <a:off x="8867349" y="1853205"/>
            <a:ext cx="1201463" cy="367346"/>
            <a:chOff x="1160135" y="2824971"/>
            <a:chExt cx="2031937" cy="604029"/>
          </a:xfrm>
        </p:grpSpPr>
        <p:sp>
          <p:nvSpPr>
            <p:cNvPr id="84" name="Rounded Rectangle 5">
              <a:extLst>
                <a:ext uri="{FF2B5EF4-FFF2-40B4-BE49-F238E27FC236}">
                  <a16:creationId xmlns:a16="http://schemas.microsoft.com/office/drawing/2014/main" id="{EBDC8BB0-9647-4711-450D-0146A04EDC4C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Box 7">
              <a:extLst>
                <a:ext uri="{FF2B5EF4-FFF2-40B4-BE49-F238E27FC236}">
                  <a16:creationId xmlns:a16="http://schemas.microsoft.com/office/drawing/2014/main" id="{6FFAC1D9-7971-1BFD-DF77-34AB028A1685}"/>
                </a:ext>
              </a:extLst>
            </p:cNvPr>
            <p:cNvSpPr txBox="1"/>
            <p:nvPr/>
          </p:nvSpPr>
          <p:spPr>
            <a:xfrm>
              <a:off x="1211727" y="3007938"/>
              <a:ext cx="1912010" cy="19991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基础性能优化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96" name="Connector 20">
            <a:extLst>
              <a:ext uri="{FF2B5EF4-FFF2-40B4-BE49-F238E27FC236}">
                <a16:creationId xmlns:a16="http://schemas.microsoft.com/office/drawing/2014/main" id="{3E585D20-B77A-3C22-7041-65F52675E0DE}"/>
              </a:ext>
            </a:extLst>
          </p:cNvPr>
          <p:cNvCxnSpPr>
            <a:cxnSpLocks/>
            <a:stCxn id="37" idx="3"/>
            <a:endCxn id="79" idx="1"/>
          </p:cNvCxnSpPr>
          <p:nvPr/>
        </p:nvCxnSpPr>
        <p:spPr>
          <a:xfrm flipV="1">
            <a:off x="8356769" y="1511643"/>
            <a:ext cx="512045" cy="456710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20">
            <a:extLst>
              <a:ext uri="{FF2B5EF4-FFF2-40B4-BE49-F238E27FC236}">
                <a16:creationId xmlns:a16="http://schemas.microsoft.com/office/drawing/2014/main" id="{F70D518A-F678-69F4-8D01-D865C230B268}"/>
              </a:ext>
            </a:extLst>
          </p:cNvPr>
          <p:cNvCxnSpPr>
            <a:cxnSpLocks/>
            <a:stCxn id="37" idx="3"/>
            <a:endCxn id="84" idx="1"/>
          </p:cNvCxnSpPr>
          <p:nvPr/>
        </p:nvCxnSpPr>
        <p:spPr>
          <a:xfrm>
            <a:off x="8356769" y="1968353"/>
            <a:ext cx="510580" cy="68525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E328BE39-497A-5C21-26DD-09CFAE0A664C}"/>
              </a:ext>
            </a:extLst>
          </p:cNvPr>
          <p:cNvGrpSpPr/>
          <p:nvPr/>
        </p:nvGrpSpPr>
        <p:grpSpPr>
          <a:xfrm>
            <a:off x="10451879" y="1265199"/>
            <a:ext cx="1529826" cy="453820"/>
            <a:chOff x="1160135" y="2824971"/>
            <a:chExt cx="2031937" cy="604029"/>
          </a:xfrm>
        </p:grpSpPr>
        <p:sp>
          <p:nvSpPr>
            <p:cNvPr id="111" name="Rounded Rectangle 5">
              <a:extLst>
                <a:ext uri="{FF2B5EF4-FFF2-40B4-BE49-F238E27FC236}">
                  <a16:creationId xmlns:a16="http://schemas.microsoft.com/office/drawing/2014/main" id="{999A75B9-1585-C674-F09C-1768C49573BA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TextBox 7">
              <a:extLst>
                <a:ext uri="{FF2B5EF4-FFF2-40B4-BE49-F238E27FC236}">
                  <a16:creationId xmlns:a16="http://schemas.microsoft.com/office/drawing/2014/main" id="{EF055EC5-E970-4AF4-B658-A610DBF5E470}"/>
                </a:ext>
              </a:extLst>
            </p:cNvPr>
            <p:cNvSpPr txBox="1"/>
            <p:nvPr/>
          </p:nvSpPr>
          <p:spPr>
            <a:xfrm>
              <a:off x="1211727" y="3007938"/>
              <a:ext cx="1912010" cy="19991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CSD/CSE/MCM</a:t>
              </a:r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E5F4D87E-03EA-F88B-7477-E57514C1AC42}"/>
              </a:ext>
            </a:extLst>
          </p:cNvPr>
          <p:cNvGrpSpPr/>
          <p:nvPr/>
        </p:nvGrpSpPr>
        <p:grpSpPr>
          <a:xfrm>
            <a:off x="10451879" y="1878470"/>
            <a:ext cx="1529826" cy="453820"/>
            <a:chOff x="1160135" y="2824971"/>
            <a:chExt cx="2031937" cy="604029"/>
          </a:xfrm>
        </p:grpSpPr>
        <p:sp>
          <p:nvSpPr>
            <p:cNvPr id="114" name="Rounded Rectangle 5">
              <a:extLst>
                <a:ext uri="{FF2B5EF4-FFF2-40B4-BE49-F238E27FC236}">
                  <a16:creationId xmlns:a16="http://schemas.microsoft.com/office/drawing/2014/main" id="{50522186-A0D3-55E0-4274-DB589019EECF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TextBox 7">
              <a:extLst>
                <a:ext uri="{FF2B5EF4-FFF2-40B4-BE49-F238E27FC236}">
                  <a16:creationId xmlns:a16="http://schemas.microsoft.com/office/drawing/2014/main" id="{4714F26B-4625-0C12-7688-851D5DB12F4E}"/>
                </a:ext>
              </a:extLst>
            </p:cNvPr>
            <p:cNvSpPr txBox="1"/>
            <p:nvPr/>
          </p:nvSpPr>
          <p:spPr>
            <a:xfrm>
              <a:off x="1211727" y="3007938"/>
              <a:ext cx="1912010" cy="28675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位宽优化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16" name="Connector 20">
            <a:extLst>
              <a:ext uri="{FF2B5EF4-FFF2-40B4-BE49-F238E27FC236}">
                <a16:creationId xmlns:a16="http://schemas.microsoft.com/office/drawing/2014/main" id="{CF877AD9-0CCA-35BB-23E7-DDAEBF3AE226}"/>
              </a:ext>
            </a:extLst>
          </p:cNvPr>
          <p:cNvCxnSpPr>
            <a:cxnSpLocks/>
            <a:stCxn id="84" idx="3"/>
            <a:endCxn id="114" idx="1"/>
          </p:cNvCxnSpPr>
          <p:nvPr/>
        </p:nvCxnSpPr>
        <p:spPr>
          <a:xfrm>
            <a:off x="10068812" y="2036878"/>
            <a:ext cx="383067" cy="68502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20">
            <a:extLst>
              <a:ext uri="{FF2B5EF4-FFF2-40B4-BE49-F238E27FC236}">
                <a16:creationId xmlns:a16="http://schemas.microsoft.com/office/drawing/2014/main" id="{EFED812D-E756-1B93-7ACC-C6ABA493FF32}"/>
              </a:ext>
            </a:extLst>
          </p:cNvPr>
          <p:cNvCxnSpPr>
            <a:cxnSpLocks/>
            <a:stCxn id="84" idx="3"/>
            <a:endCxn id="111" idx="1"/>
          </p:cNvCxnSpPr>
          <p:nvPr/>
        </p:nvCxnSpPr>
        <p:spPr>
          <a:xfrm flipV="1">
            <a:off x="10068812" y="1492109"/>
            <a:ext cx="383067" cy="544769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1B88A435-0908-AA3D-F5F7-B82B18442737}"/>
              </a:ext>
            </a:extLst>
          </p:cNvPr>
          <p:cNvGrpSpPr/>
          <p:nvPr/>
        </p:nvGrpSpPr>
        <p:grpSpPr>
          <a:xfrm>
            <a:off x="8868814" y="2580428"/>
            <a:ext cx="1201463" cy="367346"/>
            <a:chOff x="1160135" y="2824971"/>
            <a:chExt cx="2031937" cy="604029"/>
          </a:xfrm>
        </p:grpSpPr>
        <p:sp>
          <p:nvSpPr>
            <p:cNvPr id="124" name="Rounded Rectangle 5">
              <a:extLst>
                <a:ext uri="{FF2B5EF4-FFF2-40B4-BE49-F238E27FC236}">
                  <a16:creationId xmlns:a16="http://schemas.microsoft.com/office/drawing/2014/main" id="{4BCE2D1C-7656-8A1D-66E0-D8D57C55B1D1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TextBox 7">
              <a:extLst>
                <a:ext uri="{FF2B5EF4-FFF2-40B4-BE49-F238E27FC236}">
                  <a16:creationId xmlns:a16="http://schemas.microsoft.com/office/drawing/2014/main" id="{7D18D00F-A6E0-D536-D369-C5E3A9BB8DAC}"/>
                </a:ext>
              </a:extLst>
            </p:cNvPr>
            <p:cNvSpPr txBox="1"/>
            <p:nvPr/>
          </p:nvSpPr>
          <p:spPr>
            <a:xfrm>
              <a:off x="1211727" y="3007938"/>
              <a:ext cx="1912009" cy="35425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循环优化探索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BDF925B2-F2A1-8156-DC07-9437756728F3}"/>
              </a:ext>
            </a:extLst>
          </p:cNvPr>
          <p:cNvGrpSpPr/>
          <p:nvPr/>
        </p:nvGrpSpPr>
        <p:grpSpPr>
          <a:xfrm>
            <a:off x="8868814" y="3710290"/>
            <a:ext cx="1201463" cy="367346"/>
            <a:chOff x="1160135" y="2824971"/>
            <a:chExt cx="2031937" cy="604029"/>
          </a:xfrm>
        </p:grpSpPr>
        <p:sp>
          <p:nvSpPr>
            <p:cNvPr id="130" name="Rounded Rectangle 5">
              <a:extLst>
                <a:ext uri="{FF2B5EF4-FFF2-40B4-BE49-F238E27FC236}">
                  <a16:creationId xmlns:a16="http://schemas.microsoft.com/office/drawing/2014/main" id="{35A8048D-DD06-B9F4-BA52-9DB30E3E1EC3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TextBox 7">
              <a:extLst>
                <a:ext uri="{FF2B5EF4-FFF2-40B4-BE49-F238E27FC236}">
                  <a16:creationId xmlns:a16="http://schemas.microsoft.com/office/drawing/2014/main" id="{13300DD2-B691-28E9-4272-E4758E1EF639}"/>
                </a:ext>
              </a:extLst>
            </p:cNvPr>
            <p:cNvSpPr txBox="1"/>
            <p:nvPr/>
          </p:nvSpPr>
          <p:spPr>
            <a:xfrm>
              <a:off x="1211727" y="2949858"/>
              <a:ext cx="1912009" cy="35425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未知失败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32" name="Connector 20">
            <a:extLst>
              <a:ext uri="{FF2B5EF4-FFF2-40B4-BE49-F238E27FC236}">
                <a16:creationId xmlns:a16="http://schemas.microsoft.com/office/drawing/2014/main" id="{5B693C95-8648-6854-E164-7D6CD481347F}"/>
              </a:ext>
            </a:extLst>
          </p:cNvPr>
          <p:cNvCxnSpPr>
            <a:cxnSpLocks/>
            <a:stCxn id="40" idx="3"/>
            <a:endCxn id="124" idx="1"/>
          </p:cNvCxnSpPr>
          <p:nvPr/>
        </p:nvCxnSpPr>
        <p:spPr>
          <a:xfrm flipV="1">
            <a:off x="8350246" y="2764101"/>
            <a:ext cx="518568" cy="40763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20">
            <a:extLst>
              <a:ext uri="{FF2B5EF4-FFF2-40B4-BE49-F238E27FC236}">
                <a16:creationId xmlns:a16="http://schemas.microsoft.com/office/drawing/2014/main" id="{3F33E125-D46B-C4E0-7121-78DEC641CC42}"/>
              </a:ext>
            </a:extLst>
          </p:cNvPr>
          <p:cNvCxnSpPr>
            <a:cxnSpLocks/>
            <a:stCxn id="40" idx="3"/>
            <a:endCxn id="128" idx="1"/>
          </p:cNvCxnSpPr>
          <p:nvPr/>
        </p:nvCxnSpPr>
        <p:spPr>
          <a:xfrm>
            <a:off x="8350246" y="2804864"/>
            <a:ext cx="544123" cy="559490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F53942CA-D375-7C0D-165B-F7121815A808}"/>
              </a:ext>
            </a:extLst>
          </p:cNvPr>
          <p:cNvGrpSpPr/>
          <p:nvPr/>
        </p:nvGrpSpPr>
        <p:grpSpPr>
          <a:xfrm>
            <a:off x="8863863" y="3145359"/>
            <a:ext cx="1201463" cy="367346"/>
            <a:chOff x="1160135" y="2824971"/>
            <a:chExt cx="2031937" cy="604029"/>
          </a:xfrm>
        </p:grpSpPr>
        <p:sp>
          <p:nvSpPr>
            <p:cNvPr id="127" name="Rounded Rectangle 5">
              <a:extLst>
                <a:ext uri="{FF2B5EF4-FFF2-40B4-BE49-F238E27FC236}">
                  <a16:creationId xmlns:a16="http://schemas.microsoft.com/office/drawing/2014/main" id="{ECEFD9AE-36D1-14D2-922A-CF4E8030F872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TextBox 7">
              <a:extLst>
                <a:ext uri="{FF2B5EF4-FFF2-40B4-BE49-F238E27FC236}">
                  <a16:creationId xmlns:a16="http://schemas.microsoft.com/office/drawing/2014/main" id="{553FE55B-917C-DC0D-6E86-63A937F992D8}"/>
                </a:ext>
              </a:extLst>
            </p:cNvPr>
            <p:cNvSpPr txBox="1"/>
            <p:nvPr/>
          </p:nvSpPr>
          <p:spPr>
            <a:xfrm>
              <a:off x="1211727" y="3007938"/>
              <a:ext cx="1912009" cy="35425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复杂算术重构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40" name="Connector 20">
            <a:extLst>
              <a:ext uri="{FF2B5EF4-FFF2-40B4-BE49-F238E27FC236}">
                <a16:creationId xmlns:a16="http://schemas.microsoft.com/office/drawing/2014/main" id="{E8ECC082-84C8-0111-1939-F5E1FA9EE9CB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8350246" y="2804864"/>
            <a:ext cx="518568" cy="1101214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68C60F3E-970B-223F-C00F-098738E214FB}"/>
              </a:ext>
            </a:extLst>
          </p:cNvPr>
          <p:cNvGrpSpPr/>
          <p:nvPr/>
        </p:nvGrpSpPr>
        <p:grpSpPr>
          <a:xfrm>
            <a:off x="4730517" y="1634221"/>
            <a:ext cx="1583065" cy="650960"/>
            <a:chOff x="1160135" y="2824971"/>
            <a:chExt cx="2031937" cy="604029"/>
          </a:xfrm>
        </p:grpSpPr>
        <p:sp>
          <p:nvSpPr>
            <p:cNvPr id="11" name="Rounded Rectangle 5">
              <a:extLst>
                <a:ext uri="{FF2B5EF4-FFF2-40B4-BE49-F238E27FC236}">
                  <a16:creationId xmlns:a16="http://schemas.microsoft.com/office/drawing/2014/main" id="{7864CE9D-3C70-B0DA-9B43-E0A7120ED82D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BFAE6D97-5E08-333F-F0FA-5FFF18105A49}"/>
                </a:ext>
              </a:extLst>
            </p:cNvPr>
            <p:cNvSpPr txBox="1"/>
            <p:nvPr/>
          </p:nvSpPr>
          <p:spPr>
            <a:xfrm>
              <a:off x="1211727" y="3007938"/>
              <a:ext cx="1912010" cy="19991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Rule Planner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251392A-D1FC-7C0E-E851-41A13100DB18}"/>
              </a:ext>
            </a:extLst>
          </p:cNvPr>
          <p:cNvGrpSpPr/>
          <p:nvPr/>
        </p:nvGrpSpPr>
        <p:grpSpPr>
          <a:xfrm>
            <a:off x="2728250" y="1170081"/>
            <a:ext cx="1529826" cy="477053"/>
            <a:chOff x="1160135" y="2824971"/>
            <a:chExt cx="2031937" cy="604029"/>
          </a:xfrm>
        </p:grpSpPr>
        <p:sp>
          <p:nvSpPr>
            <p:cNvPr id="14" name="Rounded Rectangle 5">
              <a:extLst>
                <a:ext uri="{FF2B5EF4-FFF2-40B4-BE49-F238E27FC236}">
                  <a16:creationId xmlns:a16="http://schemas.microsoft.com/office/drawing/2014/main" id="{64FBB102-E893-5031-8B32-A98ED8AEBDF6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4CCE5A28-7E54-AC03-8EF8-DB129169D70D}"/>
                </a:ext>
              </a:extLst>
            </p:cNvPr>
            <p:cNvSpPr txBox="1"/>
            <p:nvPr/>
          </p:nvSpPr>
          <p:spPr>
            <a:xfrm>
              <a:off x="1211727" y="3007938"/>
              <a:ext cx="1912010" cy="19991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Rule coverage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BACEEE8C-8152-9F35-1CE4-BBB31A1DA87E}"/>
              </a:ext>
            </a:extLst>
          </p:cNvPr>
          <p:cNvSpPr/>
          <p:nvPr/>
        </p:nvSpPr>
        <p:spPr>
          <a:xfrm>
            <a:off x="2721947" y="1794063"/>
            <a:ext cx="1529826" cy="47705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3C47E185-D70A-8E0D-97B5-105BD5393C3C}"/>
              </a:ext>
            </a:extLst>
          </p:cNvPr>
          <p:cNvSpPr txBox="1"/>
          <p:nvPr/>
        </p:nvSpPr>
        <p:spPr>
          <a:xfrm>
            <a:off x="2760790" y="1938568"/>
            <a:ext cx="1439534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Match confidence</a:t>
            </a:r>
            <a:endParaRPr lang="en-US" sz="1200" b="1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269494AE-EE92-6ACF-DE7E-1005A610583D}"/>
              </a:ext>
            </a:extLst>
          </p:cNvPr>
          <p:cNvSpPr txBox="1"/>
          <p:nvPr/>
        </p:nvSpPr>
        <p:spPr>
          <a:xfrm>
            <a:off x="1981511" y="4888022"/>
            <a:ext cx="1439534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sz="1200" b="1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FAA0923-2B49-9784-2454-2BAE889D1DDC}"/>
              </a:ext>
            </a:extLst>
          </p:cNvPr>
          <p:cNvGrpSpPr/>
          <p:nvPr/>
        </p:nvGrpSpPr>
        <p:grpSpPr>
          <a:xfrm>
            <a:off x="2728250" y="2480742"/>
            <a:ext cx="1529826" cy="477053"/>
            <a:chOff x="1160135" y="2824971"/>
            <a:chExt cx="2031937" cy="604029"/>
          </a:xfrm>
        </p:grpSpPr>
        <p:sp>
          <p:nvSpPr>
            <p:cNvPr id="24" name="Rounded Rectangle 5">
              <a:extLst>
                <a:ext uri="{FF2B5EF4-FFF2-40B4-BE49-F238E27FC236}">
                  <a16:creationId xmlns:a16="http://schemas.microsoft.com/office/drawing/2014/main" id="{282C8653-7DCD-99E2-F71B-439ACE5CCE17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0D0B046B-0F00-6EC8-FFD9-FCF3A0AD3D09}"/>
                </a:ext>
              </a:extLst>
            </p:cNvPr>
            <p:cNvSpPr txBox="1"/>
            <p:nvPr/>
          </p:nvSpPr>
          <p:spPr>
            <a:xfrm>
              <a:off x="1211727" y="3007939"/>
              <a:ext cx="1912010" cy="2727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Task ambiguity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D0DA237-5976-EE6A-159B-43028D32E072}"/>
              </a:ext>
            </a:extLst>
          </p:cNvPr>
          <p:cNvGrpSpPr/>
          <p:nvPr/>
        </p:nvGrpSpPr>
        <p:grpSpPr>
          <a:xfrm>
            <a:off x="2721947" y="3190473"/>
            <a:ext cx="1529826" cy="477053"/>
            <a:chOff x="1160135" y="2824971"/>
            <a:chExt cx="2031937" cy="604029"/>
          </a:xfrm>
        </p:grpSpPr>
        <p:sp>
          <p:nvSpPr>
            <p:cNvPr id="29" name="Rounded Rectangle 5">
              <a:extLst>
                <a:ext uri="{FF2B5EF4-FFF2-40B4-BE49-F238E27FC236}">
                  <a16:creationId xmlns:a16="http://schemas.microsoft.com/office/drawing/2014/main" id="{3F36B67A-50C5-A311-C8DD-5E3512C9F5DC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Box 7">
              <a:extLst>
                <a:ext uri="{FF2B5EF4-FFF2-40B4-BE49-F238E27FC236}">
                  <a16:creationId xmlns:a16="http://schemas.microsoft.com/office/drawing/2014/main" id="{D57E11C7-EE44-B1CC-CC1B-A21B2C92A720}"/>
                </a:ext>
              </a:extLst>
            </p:cNvPr>
            <p:cNvSpPr txBox="1"/>
            <p:nvPr/>
          </p:nvSpPr>
          <p:spPr>
            <a:xfrm>
              <a:off x="1211727" y="3007939"/>
              <a:ext cx="1912010" cy="2338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Remaining budget</a:t>
              </a:r>
              <a:endParaRPr lang="en-US" sz="12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2" name="Connector 20">
            <a:extLst>
              <a:ext uri="{FF2B5EF4-FFF2-40B4-BE49-F238E27FC236}">
                <a16:creationId xmlns:a16="http://schemas.microsoft.com/office/drawing/2014/main" id="{6EBB7DF1-7735-77B1-0924-96D66949C2F8}"/>
              </a:ext>
            </a:extLst>
          </p:cNvPr>
          <p:cNvCxnSpPr>
            <a:cxnSpLocks/>
          </p:cNvCxnSpPr>
          <p:nvPr/>
        </p:nvCxnSpPr>
        <p:spPr>
          <a:xfrm flipV="1">
            <a:off x="2495474" y="1439243"/>
            <a:ext cx="0" cy="2032833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20">
            <a:extLst>
              <a:ext uri="{FF2B5EF4-FFF2-40B4-BE49-F238E27FC236}">
                <a16:creationId xmlns:a16="http://schemas.microsoft.com/office/drawing/2014/main" id="{4B3D2E95-DE63-91BB-E95A-8DBB7A01EF1A}"/>
              </a:ext>
            </a:extLst>
          </p:cNvPr>
          <p:cNvCxnSpPr>
            <a:cxnSpLocks/>
          </p:cNvCxnSpPr>
          <p:nvPr/>
        </p:nvCxnSpPr>
        <p:spPr>
          <a:xfrm flipV="1">
            <a:off x="4434284" y="1439243"/>
            <a:ext cx="0" cy="2032833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DE04466-32D4-BFE9-03ED-853D1DD04EF5}"/>
              </a:ext>
            </a:extLst>
          </p:cNvPr>
          <p:cNvGrpSpPr/>
          <p:nvPr/>
        </p:nvGrpSpPr>
        <p:grpSpPr>
          <a:xfrm>
            <a:off x="3078586" y="4714565"/>
            <a:ext cx="1583065" cy="650960"/>
            <a:chOff x="1160135" y="2824971"/>
            <a:chExt cx="2031937" cy="604029"/>
          </a:xfrm>
        </p:grpSpPr>
        <p:sp>
          <p:nvSpPr>
            <p:cNvPr id="48" name="Rounded Rectangle 5">
              <a:extLst>
                <a:ext uri="{FF2B5EF4-FFF2-40B4-BE49-F238E27FC236}">
                  <a16:creationId xmlns:a16="http://schemas.microsoft.com/office/drawing/2014/main" id="{197DD8DD-52BE-3C40-FAC6-EAC541F1A5F5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Box 7">
              <a:extLst>
                <a:ext uri="{FF2B5EF4-FFF2-40B4-BE49-F238E27FC236}">
                  <a16:creationId xmlns:a16="http://schemas.microsoft.com/office/drawing/2014/main" id="{A00BD5F1-D76D-8DD4-0BD4-F776107B017B}"/>
                </a:ext>
              </a:extLst>
            </p:cNvPr>
            <p:cNvSpPr txBox="1"/>
            <p:nvPr/>
          </p:nvSpPr>
          <p:spPr>
            <a:xfrm>
              <a:off x="1211727" y="3007938"/>
              <a:ext cx="1912010" cy="25702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b="1" dirty="0">
                  <a:solidFill>
                    <a:srgbClr val="3670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Planner</a:t>
              </a:r>
            </a:p>
          </p:txBody>
        </p:sp>
      </p:grpSp>
      <p:cxnSp>
        <p:nvCxnSpPr>
          <p:cNvPr id="50" name="Connector 20">
            <a:extLst>
              <a:ext uri="{FF2B5EF4-FFF2-40B4-BE49-F238E27FC236}">
                <a16:creationId xmlns:a16="http://schemas.microsoft.com/office/drawing/2014/main" id="{0782C7D8-31FB-AC69-09A3-011CAA3F356A}"/>
              </a:ext>
            </a:extLst>
          </p:cNvPr>
          <p:cNvCxnSpPr>
            <a:cxnSpLocks/>
          </p:cNvCxnSpPr>
          <p:nvPr/>
        </p:nvCxnSpPr>
        <p:spPr>
          <a:xfrm flipV="1">
            <a:off x="2285595" y="3669137"/>
            <a:ext cx="0" cy="2685296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20">
            <a:extLst>
              <a:ext uri="{FF2B5EF4-FFF2-40B4-BE49-F238E27FC236}">
                <a16:creationId xmlns:a16="http://schemas.microsoft.com/office/drawing/2014/main" id="{42C843C1-0A62-6480-2D51-93DF33793C12}"/>
              </a:ext>
            </a:extLst>
          </p:cNvPr>
          <p:cNvCxnSpPr>
            <a:cxnSpLocks/>
          </p:cNvCxnSpPr>
          <p:nvPr/>
        </p:nvCxnSpPr>
        <p:spPr>
          <a:xfrm>
            <a:off x="2303852" y="5188747"/>
            <a:ext cx="774734" cy="0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20">
            <a:extLst>
              <a:ext uri="{FF2B5EF4-FFF2-40B4-BE49-F238E27FC236}">
                <a16:creationId xmlns:a16="http://schemas.microsoft.com/office/drawing/2014/main" id="{B0BE54F4-2EDA-D325-3645-7CB252D7200E}"/>
              </a:ext>
            </a:extLst>
          </p:cNvPr>
          <p:cNvCxnSpPr>
            <a:cxnSpLocks/>
          </p:cNvCxnSpPr>
          <p:nvPr/>
        </p:nvCxnSpPr>
        <p:spPr>
          <a:xfrm>
            <a:off x="4648607" y="5189885"/>
            <a:ext cx="774734" cy="0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7">
            <a:extLst>
              <a:ext uri="{FF2B5EF4-FFF2-40B4-BE49-F238E27FC236}">
                <a16:creationId xmlns:a16="http://schemas.microsoft.com/office/drawing/2014/main" id="{4DC503D7-3692-74AB-9DE6-BEDF3237E4D9}"/>
              </a:ext>
            </a:extLst>
          </p:cNvPr>
          <p:cNvSpPr txBox="1"/>
          <p:nvPr/>
        </p:nvSpPr>
        <p:spPr>
          <a:xfrm>
            <a:off x="4316207" y="4879867"/>
            <a:ext cx="1439534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en-US" sz="1200" b="1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1ECA16A-C868-5956-E936-6879F4166BF5}"/>
              </a:ext>
            </a:extLst>
          </p:cNvPr>
          <p:cNvGrpSpPr/>
          <p:nvPr/>
        </p:nvGrpSpPr>
        <p:grpSpPr>
          <a:xfrm>
            <a:off x="653895" y="3309188"/>
            <a:ext cx="1529826" cy="477053"/>
            <a:chOff x="1160135" y="2824971"/>
            <a:chExt cx="2031937" cy="604029"/>
          </a:xfrm>
        </p:grpSpPr>
        <p:sp>
          <p:nvSpPr>
            <p:cNvPr id="60" name="Rounded Rectangle 5">
              <a:extLst>
                <a:ext uri="{FF2B5EF4-FFF2-40B4-BE49-F238E27FC236}">
                  <a16:creationId xmlns:a16="http://schemas.microsoft.com/office/drawing/2014/main" id="{5E623E5F-6D31-4F75-EC56-114CC1A2C108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TextBox 7">
              <a:extLst>
                <a:ext uri="{FF2B5EF4-FFF2-40B4-BE49-F238E27FC236}">
                  <a16:creationId xmlns:a16="http://schemas.microsoft.com/office/drawing/2014/main" id="{9CAB233B-6134-D301-715B-596B7FCE1978}"/>
                </a:ext>
              </a:extLst>
            </p:cNvPr>
            <p:cNvSpPr txBox="1"/>
            <p:nvPr/>
          </p:nvSpPr>
          <p:spPr>
            <a:xfrm>
              <a:off x="1211727" y="3007939"/>
              <a:ext cx="1912010" cy="2727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当前候选代码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969AA84D-5BB0-1215-255C-E50B4131FD64}"/>
              </a:ext>
            </a:extLst>
          </p:cNvPr>
          <p:cNvGrpSpPr/>
          <p:nvPr/>
        </p:nvGrpSpPr>
        <p:grpSpPr>
          <a:xfrm>
            <a:off x="660198" y="3862810"/>
            <a:ext cx="1529826" cy="477053"/>
            <a:chOff x="2721947" y="4645178"/>
            <a:chExt cx="1529826" cy="477053"/>
          </a:xfrm>
        </p:grpSpPr>
        <p:sp>
          <p:nvSpPr>
            <p:cNvPr id="63" name="Rounded Rectangle 5">
              <a:extLst>
                <a:ext uri="{FF2B5EF4-FFF2-40B4-BE49-F238E27FC236}">
                  <a16:creationId xmlns:a16="http://schemas.microsoft.com/office/drawing/2014/main" id="{BD1FB541-33FD-D6A0-A245-863245B8B4FC}"/>
                </a:ext>
              </a:extLst>
            </p:cNvPr>
            <p:cNvSpPr/>
            <p:nvPr/>
          </p:nvSpPr>
          <p:spPr>
            <a:xfrm>
              <a:off x="2721947" y="4645178"/>
              <a:ext cx="1529826" cy="477053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TextBox 7">
              <a:extLst>
                <a:ext uri="{FF2B5EF4-FFF2-40B4-BE49-F238E27FC236}">
                  <a16:creationId xmlns:a16="http://schemas.microsoft.com/office/drawing/2014/main" id="{10860327-6D66-34C6-4E62-A3BF91439475}"/>
                </a:ext>
              </a:extLst>
            </p:cNvPr>
            <p:cNvSpPr txBox="1"/>
            <p:nvPr/>
          </p:nvSpPr>
          <p:spPr>
            <a:xfrm>
              <a:off x="2760790" y="4789683"/>
              <a:ext cx="1439534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静态代码分析结果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80C59059-C3F4-12BD-FACE-BCB5198465E5}"/>
              </a:ext>
            </a:extLst>
          </p:cNvPr>
          <p:cNvGrpSpPr/>
          <p:nvPr/>
        </p:nvGrpSpPr>
        <p:grpSpPr>
          <a:xfrm>
            <a:off x="627658" y="4428067"/>
            <a:ext cx="1529826" cy="477053"/>
            <a:chOff x="1160135" y="2824971"/>
            <a:chExt cx="2031937" cy="604029"/>
          </a:xfrm>
        </p:grpSpPr>
        <p:sp>
          <p:nvSpPr>
            <p:cNvPr id="66" name="Rounded Rectangle 5">
              <a:extLst>
                <a:ext uri="{FF2B5EF4-FFF2-40B4-BE49-F238E27FC236}">
                  <a16:creationId xmlns:a16="http://schemas.microsoft.com/office/drawing/2014/main" id="{5698D233-1126-14C2-C083-FCFE0F6BB08E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TextBox 7">
              <a:extLst>
                <a:ext uri="{FF2B5EF4-FFF2-40B4-BE49-F238E27FC236}">
                  <a16:creationId xmlns:a16="http://schemas.microsoft.com/office/drawing/2014/main" id="{24A142C8-7D04-6935-D624-B3EA8931C46F}"/>
                </a:ext>
              </a:extLst>
            </p:cNvPr>
            <p:cNvSpPr txBox="1"/>
            <p:nvPr/>
          </p:nvSpPr>
          <p:spPr>
            <a:xfrm>
              <a:off x="1211727" y="3007939"/>
              <a:ext cx="1912010" cy="2727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任务目标与硬约束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12FF24F6-1D96-3DE1-28F0-AE6F08554A7A}"/>
              </a:ext>
            </a:extLst>
          </p:cNvPr>
          <p:cNvGrpSpPr/>
          <p:nvPr/>
        </p:nvGrpSpPr>
        <p:grpSpPr>
          <a:xfrm>
            <a:off x="627658" y="5002723"/>
            <a:ext cx="1529826" cy="477053"/>
            <a:chOff x="1160135" y="2824971"/>
            <a:chExt cx="2031937" cy="604029"/>
          </a:xfrm>
        </p:grpSpPr>
        <p:sp>
          <p:nvSpPr>
            <p:cNvPr id="73" name="Rounded Rectangle 5">
              <a:extLst>
                <a:ext uri="{FF2B5EF4-FFF2-40B4-BE49-F238E27FC236}">
                  <a16:creationId xmlns:a16="http://schemas.microsoft.com/office/drawing/2014/main" id="{71CE316B-1235-CB7F-259F-BED5AA0ADF9B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TextBox 7">
              <a:extLst>
                <a:ext uri="{FF2B5EF4-FFF2-40B4-BE49-F238E27FC236}">
                  <a16:creationId xmlns:a16="http://schemas.microsoft.com/office/drawing/2014/main" id="{7F333A80-F9B9-7B99-479D-8B4080891E99}"/>
                </a:ext>
              </a:extLst>
            </p:cNvPr>
            <p:cNvSpPr txBox="1"/>
            <p:nvPr/>
          </p:nvSpPr>
          <p:spPr>
            <a:xfrm>
              <a:off x="1211727" y="3007939"/>
              <a:ext cx="1912010" cy="2338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Vitis </a:t>
              </a:r>
              <a:r>
                <a:rPr lang="zh-CN" altLang="en-US" sz="12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验证结果</a:t>
              </a:r>
              <a:endParaRPr lang="en-US" sz="12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0FEB64B3-A7BE-B8F7-8BAA-DE120A7EF886}"/>
              </a:ext>
            </a:extLst>
          </p:cNvPr>
          <p:cNvGrpSpPr/>
          <p:nvPr/>
        </p:nvGrpSpPr>
        <p:grpSpPr>
          <a:xfrm>
            <a:off x="602446" y="5558998"/>
            <a:ext cx="1529826" cy="477053"/>
            <a:chOff x="1160135" y="2824971"/>
            <a:chExt cx="2031937" cy="604029"/>
          </a:xfrm>
        </p:grpSpPr>
        <p:sp>
          <p:nvSpPr>
            <p:cNvPr id="83" name="Rounded Rectangle 5">
              <a:extLst>
                <a:ext uri="{FF2B5EF4-FFF2-40B4-BE49-F238E27FC236}">
                  <a16:creationId xmlns:a16="http://schemas.microsoft.com/office/drawing/2014/main" id="{E923BEA9-623A-496F-AA5C-0ED60E1EA143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TextBox 7">
              <a:extLst>
                <a:ext uri="{FF2B5EF4-FFF2-40B4-BE49-F238E27FC236}">
                  <a16:creationId xmlns:a16="http://schemas.microsoft.com/office/drawing/2014/main" id="{9D431BA0-061D-4C42-4383-FC9795E2855F}"/>
                </a:ext>
              </a:extLst>
            </p:cNvPr>
            <p:cNvSpPr txBox="1"/>
            <p:nvPr/>
          </p:nvSpPr>
          <p:spPr>
            <a:xfrm>
              <a:off x="1211727" y="3007939"/>
              <a:ext cx="1912010" cy="2338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剩余预算</a:t>
              </a:r>
              <a:endParaRPr lang="en-US" sz="12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9690F7C0-BC7B-7144-2B7F-F2B188D2A52C}"/>
              </a:ext>
            </a:extLst>
          </p:cNvPr>
          <p:cNvGrpSpPr/>
          <p:nvPr/>
        </p:nvGrpSpPr>
        <p:grpSpPr>
          <a:xfrm>
            <a:off x="602446" y="6117595"/>
            <a:ext cx="1529826" cy="477053"/>
            <a:chOff x="1160135" y="2824971"/>
            <a:chExt cx="2031937" cy="604029"/>
          </a:xfrm>
        </p:grpSpPr>
        <p:sp>
          <p:nvSpPr>
            <p:cNvPr id="87" name="Rounded Rectangle 5">
              <a:extLst>
                <a:ext uri="{FF2B5EF4-FFF2-40B4-BE49-F238E27FC236}">
                  <a16:creationId xmlns:a16="http://schemas.microsoft.com/office/drawing/2014/main" id="{F3879C9E-BC50-2042-9E73-F88135F28E97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TextBox 7">
              <a:extLst>
                <a:ext uri="{FF2B5EF4-FFF2-40B4-BE49-F238E27FC236}">
                  <a16:creationId xmlns:a16="http://schemas.microsoft.com/office/drawing/2014/main" id="{13DEBF0F-9CFB-99B5-1261-0481D91C4923}"/>
                </a:ext>
              </a:extLst>
            </p:cNvPr>
            <p:cNvSpPr txBox="1"/>
            <p:nvPr/>
          </p:nvSpPr>
          <p:spPr>
            <a:xfrm>
              <a:off x="1211727" y="3007939"/>
              <a:ext cx="1912010" cy="2338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历史动作</a:t>
              </a:r>
              <a:endParaRPr lang="en-US" sz="12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7635D914-8F7E-B6D2-7A02-E5D9CEFADCC9}"/>
              </a:ext>
            </a:extLst>
          </p:cNvPr>
          <p:cNvGrpSpPr/>
          <p:nvPr/>
        </p:nvGrpSpPr>
        <p:grpSpPr>
          <a:xfrm>
            <a:off x="5423341" y="4828816"/>
            <a:ext cx="1583065" cy="650960"/>
            <a:chOff x="1160135" y="2824971"/>
            <a:chExt cx="2031937" cy="604029"/>
          </a:xfrm>
        </p:grpSpPr>
        <p:sp>
          <p:nvSpPr>
            <p:cNvPr id="93" name="Rounded Rectangle 5">
              <a:extLst>
                <a:ext uri="{FF2B5EF4-FFF2-40B4-BE49-F238E27FC236}">
                  <a16:creationId xmlns:a16="http://schemas.microsoft.com/office/drawing/2014/main" id="{A03EC4A2-7820-9C6F-EC16-B69F45F0336E}"/>
                </a:ext>
              </a:extLst>
            </p:cNvPr>
            <p:cNvSpPr/>
            <p:nvPr/>
          </p:nvSpPr>
          <p:spPr>
            <a:xfrm>
              <a:off x="1160135" y="2824971"/>
              <a:ext cx="2031937" cy="60402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TextBox 7">
              <a:extLst>
                <a:ext uri="{FF2B5EF4-FFF2-40B4-BE49-F238E27FC236}">
                  <a16:creationId xmlns:a16="http://schemas.microsoft.com/office/drawing/2014/main" id="{761FDDED-8122-5886-6A08-7D482BBC5B64}"/>
                </a:ext>
              </a:extLst>
            </p:cNvPr>
            <p:cNvSpPr txBox="1"/>
            <p:nvPr/>
          </p:nvSpPr>
          <p:spPr>
            <a:xfrm>
              <a:off x="1211727" y="3007938"/>
              <a:ext cx="1912010" cy="19991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 err="1">
                  <a:solidFill>
                    <a:srgbClr val="505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action_plan.json</a:t>
              </a:r>
              <a:endPara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12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680" y="210312"/>
            <a:ext cx="10789920" cy="56692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42644"/>
                </a:solidFill>
                <a:latin typeface="Microsoft YaHei"/>
              </a:rPr>
              <a:t>优化知识库覆盖三个硬件层级，并由验证闭环兜底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896112"/>
            <a:ext cx="914400" cy="50292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86840" y="1479042"/>
            <a:ext cx="27432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588008" y="1689354"/>
            <a:ext cx="1143000" cy="256032"/>
          </a:xfrm>
          <a:prstGeom prst="roundRect">
            <a:avLst/>
          </a:prstGeom>
          <a:solidFill>
            <a:srgbClr val="3670D2"/>
          </a:solidFill>
          <a:ln w="12700">
            <a:solidFill>
              <a:srgbClr val="36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6296" y="1725930"/>
            <a:ext cx="110642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吞吐 / 并行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6296" y="209169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2644"/>
                </a:solidFill>
                <a:latin typeface="Microsoft YaHei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6296" y="2576322"/>
            <a:ext cx="2304288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 err="1">
                <a:solidFill>
                  <a:srgbClr val="505C6E"/>
                </a:solidFill>
                <a:latin typeface="Microsoft YaHei"/>
              </a:rPr>
              <a:t>Pipeline、Unroll、Array</a:t>
            </a:r>
            <a:r>
              <a:rPr sz="1400" b="0" dirty="0">
                <a:solidFill>
                  <a:srgbClr val="505C6E"/>
                </a:solidFill>
                <a:latin typeface="Microsoft YaHei"/>
              </a:rPr>
              <a:t> Partition </a:t>
            </a:r>
            <a:r>
              <a:rPr sz="1400" b="0" dirty="0" err="1">
                <a:solidFill>
                  <a:srgbClr val="505C6E"/>
                </a:solidFill>
                <a:latin typeface="Microsoft YaHei"/>
              </a:rPr>
              <a:t>与部分和归约，直接改变并行结构和吞吐</a:t>
            </a:r>
            <a:r>
              <a:rPr sz="1400" b="0" dirty="0">
                <a:solidFill>
                  <a:srgbClr val="505C6E"/>
                </a:solidFill>
                <a:latin typeface="Microsoft YaHei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6296" y="3490722"/>
            <a:ext cx="2286000" cy="32004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24400" y="1479042"/>
            <a:ext cx="27432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25568" y="1689354"/>
            <a:ext cx="1143000" cy="256032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43855" y="1725930"/>
            <a:ext cx="110642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DSP / 加法树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3856" y="209169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2644"/>
                </a:solidFill>
                <a:latin typeface="Microsoft YaHei"/>
              </a:rPr>
              <a:t>Arithmetic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3856" y="2576322"/>
            <a:ext cx="2304288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05C6E"/>
                </a:solidFill>
                <a:latin typeface="Microsoft YaHei"/>
              </a:rPr>
              <a:t>CSD + MCM + CSE 把常量乘法转换为可共享的移位加减网络。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3856" y="3490722"/>
            <a:ext cx="2286000" cy="3200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61959" y="1479042"/>
            <a:ext cx="27432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63128" y="1689354"/>
            <a:ext cx="1143000" cy="256032"/>
          </a:xfrm>
          <a:prstGeom prst="roundRect">
            <a:avLst/>
          </a:prstGeom>
          <a:solidFill>
            <a:srgbClr val="26A65B"/>
          </a:solidFill>
          <a:ln w="12700">
            <a:solidFill>
              <a:srgbClr val="26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1416" y="1725930"/>
            <a:ext cx="110642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位宽 / 误差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1416" y="209169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2644"/>
                </a:solidFill>
                <a:latin typeface="Microsoft YaHei"/>
              </a:rPr>
              <a:t>Data Representation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1416" y="2576322"/>
            <a:ext cx="2304288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05C6E"/>
                </a:solidFill>
                <a:latin typeface="Microsoft YaHei"/>
              </a:rPr>
              <a:t>范围传播、Guard Bits 与误差约束共同推导 ap_int / ap_fixed 位宽。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1416" y="3490722"/>
            <a:ext cx="2286000" cy="32004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4128" y="4434840"/>
            <a:ext cx="10012680" cy="987552"/>
          </a:xfrm>
          <a:prstGeom prst="roundRect">
            <a:avLst/>
          </a:prstGeom>
          <a:solidFill>
            <a:srgbClr val="142644"/>
          </a:solidFill>
          <a:ln w="12700">
            <a:solidFill>
              <a:srgbClr val="14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25880" y="4645152"/>
            <a:ext cx="9418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统一接受准则：静态分析只生成候选，最终接受仍由真实 CSim、综合和 CoSim 决定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5045535"/>
            <a:ext cx="90068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dirty="0" err="1">
                <a:solidFill>
                  <a:srgbClr val="D2E1FF"/>
                </a:solidFill>
                <a:latin typeface="Microsoft YaHei"/>
              </a:rPr>
              <a:t>因此插件可以扩展，但验证链路和证据链不变</a:t>
            </a:r>
            <a:r>
              <a:rPr sz="1600" b="0" dirty="0">
                <a:solidFill>
                  <a:srgbClr val="D2E1FF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ounded Rectangle 5">
            <a:extLst>
              <a:ext uri="{FF2B5EF4-FFF2-40B4-BE49-F238E27FC236}">
                <a16:creationId xmlns:a16="http://schemas.microsoft.com/office/drawing/2014/main" id="{7C2FC198-35B2-5D2F-856D-4A6C3EB369C1}"/>
              </a:ext>
            </a:extLst>
          </p:cNvPr>
          <p:cNvSpPr/>
          <p:nvPr/>
        </p:nvSpPr>
        <p:spPr>
          <a:xfrm>
            <a:off x="4453357" y="1750258"/>
            <a:ext cx="2788920" cy="16787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ounded Rectangle 5">
                <a:extLst>
                  <a:ext uri="{FF2B5EF4-FFF2-40B4-BE49-F238E27FC236}">
                    <a16:creationId xmlns:a16="http://schemas.microsoft.com/office/drawing/2014/main" id="{CF0E312D-A184-85A0-7DD5-A75B96A02C95}"/>
                  </a:ext>
                </a:extLst>
              </p:cNvPr>
              <p:cNvSpPr/>
              <p:nvPr/>
            </p:nvSpPr>
            <p:spPr>
              <a:xfrm>
                <a:off x="1495396" y="3573975"/>
                <a:ext cx="2788920" cy="2521996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nn-NO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nn-NO" altLang="zh-CN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nn-NO" altLang="zh-CN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nn-NO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n-NO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nn-NO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nn-NO" altLang="zh-CN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altLang="zh-CN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nn-NO" altLang="zh-CN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nn-NO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n-NO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nn-NO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it-IT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it-IT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−1,0,+1</m:t>
                          </m:r>
                        </m:e>
                      </m:d>
                    </m:oMath>
                  </m:oMathPara>
                </a14:m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n-NO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nn-NO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nn-NO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nn-NO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nn-NO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Rounded Rectangle 5">
                <a:extLst>
                  <a:ext uri="{FF2B5EF4-FFF2-40B4-BE49-F238E27FC236}">
                    <a16:creationId xmlns:a16="http://schemas.microsoft.com/office/drawing/2014/main" id="{CF0E312D-A184-85A0-7DD5-A75B96A02C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396" y="3573975"/>
                <a:ext cx="2788920" cy="252199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E2E8F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68680" y="210312"/>
            <a:ext cx="7764305" cy="47705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CSD + MCM + CSE：构建共享的移位加法网络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804843"/>
            <a:ext cx="914400" cy="50292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495396" y="1750394"/>
            <a:ext cx="2788920" cy="16787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85762" y="1925484"/>
            <a:ext cx="278892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5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sz="15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常量乘法问题：</a:t>
            </a:r>
            <a:endParaRPr sz="15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85762" y="2223187"/>
            <a:ext cx="3321194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</a:t>
            </a:r>
            <a:r>
              <a:rPr lang="en-US" altLang="zh-CN"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HLS: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DSP</a:t>
            </a:r>
            <a:r>
              <a:rPr lang="zh-CN" altLang="en-US" sz="140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资源消耗</a:t>
            </a:r>
            <a:endParaRPr lang="en-US" altLang="zh-CN" sz="140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较长组合路径</a:t>
            </a:r>
            <a:endParaRPr sz="1400" b="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66455" y="1436981"/>
            <a:ext cx="777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dirty="0">
                <a:solidFill>
                  <a:srgbClr val="3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4000" y="1416154"/>
            <a:ext cx="80467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dirty="0">
                <a:solidFill>
                  <a:srgbClr val="3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5539" y="4086434"/>
            <a:ext cx="2788829" cy="20095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76837" y="4321391"/>
            <a:ext cx="2006231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MCM </a:t>
            </a:r>
            <a:r>
              <a:rPr lang="zh-CN" altLang="en-US"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：多常数乘法优化</a:t>
            </a:r>
            <a:endParaRPr sz="14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50130" y="4726985"/>
            <a:ext cx="253715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目的：多常量乘法共享位移结构</a:t>
            </a:r>
            <a:endParaRPr sz="1400" b="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11318" y="1750258"/>
            <a:ext cx="2963050" cy="167887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78244" y="1923050"/>
            <a:ext cx="268085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CSE : </a:t>
            </a:r>
            <a:r>
              <a:rPr lang="zh-CN" altLang="en-US"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公共子表达式消除</a:t>
            </a:r>
            <a:endParaRPr sz="14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75910" y="2348007"/>
            <a:ext cx="268085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生成节点过程中建立</a:t>
            </a:r>
            <a:r>
              <a:rPr lang="en-US" altLang="zh-CN"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endParaRPr lang="en-US" altLang="zh-CN" sz="1400" b="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二叉树中相同节点匹配</a:t>
            </a:r>
            <a:r>
              <a:rPr lang="en-US" altLang="zh-CN"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40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</a:t>
            </a:r>
            <a:endParaRPr sz="1400" b="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15719" y="974828"/>
            <a:ext cx="101498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</a:t>
            </a:r>
            <a:r>
              <a:rPr lang="en-US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常量乘法先转为稀疏移位加法，再跨多个常量共享公共子式，降低乘法器和重复加法网络</a:t>
            </a:r>
            <a:r>
              <a:rPr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9" name="TextBox 7">
            <a:extLst>
              <a:ext uri="{FF2B5EF4-FFF2-40B4-BE49-F238E27FC236}">
                <a16:creationId xmlns:a16="http://schemas.microsoft.com/office/drawing/2014/main" id="{2BEC7DFB-C549-7D3B-D6D5-B1CB3D98AD20}"/>
              </a:ext>
            </a:extLst>
          </p:cNvPr>
          <p:cNvSpPr txBox="1"/>
          <p:nvPr/>
        </p:nvSpPr>
        <p:spPr>
          <a:xfrm>
            <a:off x="1785762" y="3014357"/>
            <a:ext cx="278892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500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替代方案：</a:t>
            </a:r>
            <a:r>
              <a:rPr lang="zh-CN" altLang="en-US" sz="15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移位</a:t>
            </a:r>
            <a:r>
              <a:rPr lang="en-US" altLang="zh-CN" sz="15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5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相加</a:t>
            </a:r>
            <a:endParaRPr sz="15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8">
            <a:extLst>
              <a:ext uri="{FF2B5EF4-FFF2-40B4-BE49-F238E27FC236}">
                <a16:creationId xmlns:a16="http://schemas.microsoft.com/office/drawing/2014/main" id="{4EBF2CDD-F109-72D7-56BE-30D2F22566F4}"/>
              </a:ext>
            </a:extLst>
          </p:cNvPr>
          <p:cNvSpPr txBox="1"/>
          <p:nvPr/>
        </p:nvSpPr>
        <p:spPr>
          <a:xfrm>
            <a:off x="4784994" y="1966755"/>
            <a:ext cx="2358729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     </a:t>
            </a:r>
            <a:r>
              <a:rPr lang="en-US" altLang="zh-CN"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 x * 13</a:t>
            </a:r>
          </a:p>
          <a:p>
            <a:pPr algn="l"/>
            <a:endParaRPr lang="en-US" altLang="zh-CN" sz="1400" b="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sz="140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y =  x * 16 – x * 4 + x</a:t>
            </a:r>
          </a:p>
          <a:p>
            <a:pPr algn="l"/>
            <a:endParaRPr lang="en-US" sz="140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sz="140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y</a:t>
            </a:r>
            <a:r>
              <a: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(x&lt;&lt;4) – (x&lt;&lt;2) + x</a:t>
            </a:r>
          </a:p>
          <a:p>
            <a:pPr algn="l"/>
            <a:r>
              <a: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  <p:sp>
        <p:nvSpPr>
          <p:cNvPr id="52" name="TextBox 7">
            <a:extLst>
              <a:ext uri="{FF2B5EF4-FFF2-40B4-BE49-F238E27FC236}">
                <a16:creationId xmlns:a16="http://schemas.microsoft.com/office/drawing/2014/main" id="{D6670D92-118D-8BB4-7B2C-C4A202D3AC77}"/>
              </a:ext>
            </a:extLst>
          </p:cNvPr>
          <p:cNvSpPr txBox="1"/>
          <p:nvPr/>
        </p:nvSpPr>
        <p:spPr>
          <a:xfrm>
            <a:off x="1785762" y="3721596"/>
            <a:ext cx="2427250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5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CSD</a:t>
            </a:r>
            <a:r>
              <a:rPr lang="zh-CN" altLang="en-US" sz="15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唯一性定理：</a:t>
            </a:r>
            <a:endParaRPr lang="en-US" altLang="zh-CN" sz="15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500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任意两个相邻的数字位不能同时为非零</a:t>
            </a:r>
            <a:endParaRPr sz="1500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ounded Rectangle 5">
            <a:extLst>
              <a:ext uri="{FF2B5EF4-FFF2-40B4-BE49-F238E27FC236}">
                <a16:creationId xmlns:a16="http://schemas.microsoft.com/office/drawing/2014/main" id="{DA9FB3F6-518C-AD8A-809C-FABD6A762270}"/>
              </a:ext>
            </a:extLst>
          </p:cNvPr>
          <p:cNvSpPr/>
          <p:nvPr/>
        </p:nvSpPr>
        <p:spPr>
          <a:xfrm>
            <a:off x="4448906" y="3573839"/>
            <a:ext cx="2865704" cy="25221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208F161E-48B2-DA68-1FAD-F60B23897B16}"/>
              </a:ext>
            </a:extLst>
          </p:cNvPr>
          <p:cNvSpPr txBox="1"/>
          <p:nvPr/>
        </p:nvSpPr>
        <p:spPr>
          <a:xfrm>
            <a:off x="4569898" y="3745034"/>
            <a:ext cx="27889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CSD+CSE+MCM 实现流程</a:t>
            </a:r>
            <a:endParaRPr sz="16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Box 15">
            <a:extLst>
              <a:ext uri="{FF2B5EF4-FFF2-40B4-BE49-F238E27FC236}">
                <a16:creationId xmlns:a16="http://schemas.microsoft.com/office/drawing/2014/main" id="{97402A87-00B3-CB4C-3015-B1B1D64F75B3}"/>
              </a:ext>
            </a:extLst>
          </p:cNvPr>
          <p:cNvSpPr txBox="1"/>
          <p:nvPr/>
        </p:nvSpPr>
        <p:spPr>
          <a:xfrm>
            <a:off x="7837209" y="2996293"/>
            <a:ext cx="2006231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</a:t>
            </a:r>
            <a:r>
              <a:rPr lang="en-US"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：t = x </a:t>
            </a:r>
            <a:r>
              <a:rPr lang="en-US"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+-</a:t>
            </a:r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(x ≪ </a:t>
            </a:r>
            <a:r>
              <a:rPr lang="en-US"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0" name="TextBox 12">
            <a:extLst>
              <a:ext uri="{FF2B5EF4-FFF2-40B4-BE49-F238E27FC236}">
                <a16:creationId xmlns:a16="http://schemas.microsoft.com/office/drawing/2014/main" id="{847C903D-B929-C3E5-1927-9F16DC7D0920}"/>
              </a:ext>
            </a:extLst>
          </p:cNvPr>
          <p:cNvSpPr txBox="1"/>
          <p:nvPr/>
        </p:nvSpPr>
        <p:spPr>
          <a:xfrm>
            <a:off x="8577617" y="3619285"/>
            <a:ext cx="80467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1" dirty="0">
                <a:solidFill>
                  <a:srgbClr val="3670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MCM</a:t>
            </a:r>
            <a:endParaRPr b="1" dirty="0">
              <a:solidFill>
                <a:srgbClr val="3670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8">
            <a:extLst>
              <a:ext uri="{FF2B5EF4-FFF2-40B4-BE49-F238E27FC236}">
                <a16:creationId xmlns:a16="http://schemas.microsoft.com/office/drawing/2014/main" id="{BBB0E03F-6A0D-6027-242F-C709C7C0A248}"/>
              </a:ext>
            </a:extLst>
          </p:cNvPr>
          <p:cNvSpPr txBox="1"/>
          <p:nvPr/>
        </p:nvSpPr>
        <p:spPr>
          <a:xfrm>
            <a:off x="5016691" y="4159623"/>
            <a:ext cx="2297920" cy="17235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表达式解析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节点化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常量乘法检测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MCM共享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合并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代码生成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16">
            <a:extLst>
              <a:ext uri="{FF2B5EF4-FFF2-40B4-BE49-F238E27FC236}">
                <a16:creationId xmlns:a16="http://schemas.microsoft.com/office/drawing/2014/main" id="{616509E4-EA5B-2755-41A4-9A6E76B0E55B}"/>
              </a:ext>
            </a:extLst>
          </p:cNvPr>
          <p:cNvSpPr txBox="1"/>
          <p:nvPr/>
        </p:nvSpPr>
        <p:spPr>
          <a:xfrm>
            <a:off x="7837211" y="5143658"/>
            <a:ext cx="2537158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建模为共享移位加法图</a:t>
            </a:r>
            <a:endParaRPr lang="en-US" altLang="zh-CN" sz="140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复用公共节点减少硬件资源</a:t>
            </a:r>
            <a:endParaRPr lang="en-US" altLang="zh-CN" sz="1400" b="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sz="1400" b="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3F72F1C-0DE6-352D-9BFE-D443B51D2D16}"/>
              </a:ext>
            </a:extLst>
          </p:cNvPr>
          <p:cNvSpPr txBox="1"/>
          <p:nvPr/>
        </p:nvSpPr>
        <p:spPr>
          <a:xfrm>
            <a:off x="1325880" y="6383353"/>
            <a:ext cx="11581095" cy="522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90500" indent="-190500">
              <a:lnSpc>
                <a:spcPts val="15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1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Richard I. Hartley</a:t>
            </a:r>
            <a:r>
              <a:rPr lang="en-US" altLang="zh-CN" sz="11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“</a:t>
            </a:r>
            <a:r>
              <a:rPr lang="zh-CN" altLang="zh-CN" sz="11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Subexpression Sharing in Filters Using Canonic Signed Digit Multipliers</a:t>
            </a:r>
            <a:r>
              <a:rPr lang="en-US" altLang="zh-CN" sz="11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 IEEE member , </a:t>
            </a:r>
            <a:r>
              <a:rPr lang="zh-CN" altLang="zh-CN" sz="11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1996</a:t>
            </a:r>
            <a:endParaRPr lang="en-US" altLang="zh-CN" sz="11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1500"/>
              </a:lnSpc>
              <a:buClr>
                <a:schemeClr val="tx1"/>
              </a:buClr>
              <a:defRPr/>
            </a:pPr>
            <a:endParaRPr lang="zh-CN" altLang="en-US" sz="11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E7CB956C-F805-EC8E-8D16-D0A4301DA627}"/>
              </a:ext>
            </a:extLst>
          </p:cNvPr>
          <p:cNvCxnSpPr/>
          <p:nvPr/>
        </p:nvCxnSpPr>
        <p:spPr>
          <a:xfrm flipH="1">
            <a:off x="395937" y="6299554"/>
            <a:ext cx="11589403" cy="0"/>
          </a:xfrm>
          <a:prstGeom prst="line">
            <a:avLst/>
          </a:prstGeom>
          <a:ln w="28575">
            <a:solidFill>
              <a:srgbClr val="0054A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680" y="210312"/>
            <a:ext cx="4760278" cy="47705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位宽优化：缩减内部数据通路</a:t>
            </a:r>
            <a:endParaRPr sz="28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896112"/>
            <a:ext cx="914400" cy="50292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41421" y="1620392"/>
            <a:ext cx="2031937" cy="6040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0135" y="1199323"/>
            <a:ext cx="191201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</a:t>
            </a:r>
            <a:endParaRPr sz="16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11727" y="1803359"/>
            <a:ext cx="191201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C/C++ expression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28766" y="1611605"/>
            <a:ext cx="3888765" cy="107103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 algn="ctr"/>
            <a:endParaRPr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46500" y="1727951"/>
            <a:ext cx="323672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面对有符号常量：</a:t>
            </a:r>
            <a:endParaRPr sz="14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451701" y="1630226"/>
            <a:ext cx="2365635" cy="10524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82015" y="1706962"/>
            <a:ext cx="139903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误差约束</a:t>
            </a:r>
            <a:endParaRPr sz="14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50869" y="2090489"/>
            <a:ext cx="1778271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根据加法、乘法自动推断比特范围，避免溢出</a:t>
            </a:r>
            <a:endParaRPr sz="1400" b="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Connector 20"/>
          <p:cNvCxnSpPr>
            <a:cxnSpLocks/>
          </p:cNvCxnSpPr>
          <p:nvPr/>
        </p:nvCxnSpPr>
        <p:spPr>
          <a:xfrm>
            <a:off x="3483778" y="1582050"/>
            <a:ext cx="285" cy="3054555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</p:cNvCxnSpPr>
          <p:nvPr/>
        </p:nvCxnSpPr>
        <p:spPr>
          <a:xfrm>
            <a:off x="8112301" y="1497591"/>
            <a:ext cx="0" cy="2972174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23949" y="5367528"/>
            <a:ext cx="3246043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23950" y="5367528"/>
            <a:ext cx="78692" cy="1188720"/>
          </a:xfrm>
          <a:prstGeom prst="rect">
            <a:avLst/>
          </a:prstGeom>
          <a:solidFill>
            <a:srgbClr val="D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8542" y="5468112"/>
            <a:ext cx="295094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安全边界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8542" y="5843015"/>
            <a:ext cx="2901765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UNKNOWN范围保持原类型；不改顶层接口；候选必须请求CSim+Synth+CoSim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5829" y="5367528"/>
            <a:ext cx="3246043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335830" y="5367528"/>
            <a:ext cx="78692" cy="118872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00422" y="5468112"/>
            <a:ext cx="295094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当前成果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00422" y="5843015"/>
            <a:ext cx="290176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位宽插件已合并到Agent动作体系，数值回归通过并进入离线门禁。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47708" y="5367528"/>
            <a:ext cx="3049313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947709" y="5367528"/>
            <a:ext cx="78692" cy="1188720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112301" y="5468112"/>
            <a:ext cx="275421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汇报口径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2301" y="5843015"/>
            <a:ext cx="2705036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Python数值模型不等同于RTL CoSim；硬件结果需由Vitis三阶段验证。</a:t>
            </a:r>
          </a:p>
        </p:txBody>
      </p:sp>
      <p:sp>
        <p:nvSpPr>
          <p:cNvPr id="55" name="Rounded Rectangle 5">
            <a:extLst>
              <a:ext uri="{FF2B5EF4-FFF2-40B4-BE49-F238E27FC236}">
                <a16:creationId xmlns:a16="http://schemas.microsoft.com/office/drawing/2014/main" id="{FF9367E7-9BEC-E9FB-C867-19FAF360BBEA}"/>
              </a:ext>
            </a:extLst>
          </p:cNvPr>
          <p:cNvSpPr/>
          <p:nvPr/>
        </p:nvSpPr>
        <p:spPr>
          <a:xfrm>
            <a:off x="1135702" y="2399269"/>
            <a:ext cx="2031937" cy="6040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7">
            <a:extLst>
              <a:ext uri="{FF2B5EF4-FFF2-40B4-BE49-F238E27FC236}">
                <a16:creationId xmlns:a16="http://schemas.microsoft.com/office/drawing/2014/main" id="{0094F54D-84C9-DC85-86A6-F6FDD2FF794B}"/>
              </a:ext>
            </a:extLst>
          </p:cNvPr>
          <p:cNvSpPr txBox="1"/>
          <p:nvPr/>
        </p:nvSpPr>
        <p:spPr>
          <a:xfrm>
            <a:off x="1206008" y="2582236"/>
            <a:ext cx="191201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AST  /  IR</a:t>
            </a:r>
          </a:p>
        </p:txBody>
      </p:sp>
      <p:sp>
        <p:nvSpPr>
          <p:cNvPr id="59" name="Rounded Rectangle 5">
            <a:extLst>
              <a:ext uri="{FF2B5EF4-FFF2-40B4-BE49-F238E27FC236}">
                <a16:creationId xmlns:a16="http://schemas.microsoft.com/office/drawing/2014/main" id="{D205C8E0-4442-3E14-4245-CD6BD5D81D81}"/>
              </a:ext>
            </a:extLst>
          </p:cNvPr>
          <p:cNvSpPr/>
          <p:nvPr/>
        </p:nvSpPr>
        <p:spPr>
          <a:xfrm>
            <a:off x="1135702" y="3209961"/>
            <a:ext cx="2031937" cy="6040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7">
            <a:extLst>
              <a:ext uri="{FF2B5EF4-FFF2-40B4-BE49-F238E27FC236}">
                <a16:creationId xmlns:a16="http://schemas.microsoft.com/office/drawing/2014/main" id="{82835303-E0B6-7E8F-BD8D-50133BF2DF71}"/>
              </a:ext>
            </a:extLst>
          </p:cNvPr>
          <p:cNvSpPr txBox="1"/>
          <p:nvPr/>
        </p:nvSpPr>
        <p:spPr>
          <a:xfrm>
            <a:off x="1206008" y="3392928"/>
            <a:ext cx="191201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Range Analysis</a:t>
            </a:r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E8222044-5ABA-F543-2373-C419DE2229FC}"/>
              </a:ext>
            </a:extLst>
          </p:cNvPr>
          <p:cNvSpPr/>
          <p:nvPr/>
        </p:nvSpPr>
        <p:spPr>
          <a:xfrm>
            <a:off x="1141421" y="4005319"/>
            <a:ext cx="2031937" cy="6040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Box 7">
            <a:extLst>
              <a:ext uri="{FF2B5EF4-FFF2-40B4-BE49-F238E27FC236}">
                <a16:creationId xmlns:a16="http://schemas.microsoft.com/office/drawing/2014/main" id="{3666D088-3F40-30CD-A1C6-1ADD198425EE}"/>
              </a:ext>
            </a:extLst>
          </p:cNvPr>
          <p:cNvSpPr txBox="1"/>
          <p:nvPr/>
        </p:nvSpPr>
        <p:spPr>
          <a:xfrm>
            <a:off x="1211727" y="4188286"/>
            <a:ext cx="191201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b="1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Variable Interval</a:t>
            </a:r>
          </a:p>
        </p:txBody>
      </p:sp>
      <p:cxnSp>
        <p:nvCxnSpPr>
          <p:cNvPr id="67" name="Connector 20">
            <a:extLst>
              <a:ext uri="{FF2B5EF4-FFF2-40B4-BE49-F238E27FC236}">
                <a16:creationId xmlns:a16="http://schemas.microsoft.com/office/drawing/2014/main" id="{1A4E8B8C-6685-1632-B5A6-74F9FB62690D}"/>
              </a:ext>
            </a:extLst>
          </p:cNvPr>
          <p:cNvCxnSpPr>
            <a:cxnSpLocks/>
          </p:cNvCxnSpPr>
          <p:nvPr/>
        </p:nvCxnSpPr>
        <p:spPr>
          <a:xfrm>
            <a:off x="3303519" y="4427631"/>
            <a:ext cx="180259" cy="208974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20">
            <a:extLst>
              <a:ext uri="{FF2B5EF4-FFF2-40B4-BE49-F238E27FC236}">
                <a16:creationId xmlns:a16="http://schemas.microsoft.com/office/drawing/2014/main" id="{E8220BA0-CC70-6B1A-98F4-05B36B87D530}"/>
              </a:ext>
            </a:extLst>
          </p:cNvPr>
          <p:cNvCxnSpPr>
            <a:cxnSpLocks/>
          </p:cNvCxnSpPr>
          <p:nvPr/>
        </p:nvCxnSpPr>
        <p:spPr>
          <a:xfrm flipH="1">
            <a:off x="3484063" y="4427631"/>
            <a:ext cx="129876" cy="200549"/>
          </a:xfrm>
          <a:prstGeom prst="line">
            <a:avLst/>
          </a:prstGeom>
          <a:ln w="20320">
            <a:solidFill>
              <a:srgbClr val="36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6">
            <a:extLst>
              <a:ext uri="{FF2B5EF4-FFF2-40B4-BE49-F238E27FC236}">
                <a16:creationId xmlns:a16="http://schemas.microsoft.com/office/drawing/2014/main" id="{AF475703-C734-2ACA-1B53-5B19092E5314}"/>
              </a:ext>
            </a:extLst>
          </p:cNvPr>
          <p:cNvSpPr txBox="1"/>
          <p:nvPr/>
        </p:nvSpPr>
        <p:spPr>
          <a:xfrm>
            <a:off x="4913616" y="1217710"/>
            <a:ext cx="191201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位宽推导</a:t>
            </a:r>
            <a:endParaRPr sz="16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EB9D699A-60D8-8D01-DAE8-F5C6A64DCE40}"/>
                  </a:ext>
                </a:extLst>
              </p:cNvPr>
              <p:cNvSpPr txBox="1"/>
              <p:nvPr/>
            </p:nvSpPr>
            <p:spPr>
              <a:xfrm>
                <a:off x="4063325" y="2079567"/>
                <a:ext cx="360528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d>
                                <m:dPr>
                                  <m:ctrlP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CN" altLang="en-US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600" i="1" smtClean="0">
                                          <a:latin typeface="Cambria Math" panose="02040503050406030204" pitchFamily="18" charset="0"/>
                                        </a:rPr>
                                        <m:t>𝑚𝑖𝑛</m:t>
                                      </m:r>
                                    </m:e>
                                  </m:d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CN" altLang="en-US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600" i="1" smtClean="0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d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EB9D699A-60D8-8D01-DAE8-F5C6A64DC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325" y="2079567"/>
                <a:ext cx="3605281" cy="246221"/>
              </a:xfrm>
              <a:prstGeom prst="rect">
                <a:avLst/>
              </a:prstGeom>
              <a:blipFill>
                <a:blip r:embed="rId2"/>
                <a:stretch>
                  <a:fillRect l="-846" r="-677" b="-21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6">
            <a:extLst>
              <a:ext uri="{FF2B5EF4-FFF2-40B4-BE49-F238E27FC236}">
                <a16:creationId xmlns:a16="http://schemas.microsoft.com/office/drawing/2014/main" id="{77FD4EFA-8D72-2276-4BC8-6F41ED1604C2}"/>
              </a:ext>
            </a:extLst>
          </p:cNvPr>
          <p:cNvSpPr txBox="1"/>
          <p:nvPr/>
        </p:nvSpPr>
        <p:spPr>
          <a:xfrm>
            <a:off x="8567116" y="1209157"/>
            <a:ext cx="191201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Guard Bit</a:t>
            </a:r>
            <a:endParaRPr sz="16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Rounded Rectangle 11">
            <a:extLst>
              <a:ext uri="{FF2B5EF4-FFF2-40B4-BE49-F238E27FC236}">
                <a16:creationId xmlns:a16="http://schemas.microsoft.com/office/drawing/2014/main" id="{2E5E7A6E-0A6E-E4E8-A4A5-F4B47BAD9323}"/>
              </a:ext>
            </a:extLst>
          </p:cNvPr>
          <p:cNvSpPr/>
          <p:nvPr/>
        </p:nvSpPr>
        <p:spPr>
          <a:xfrm>
            <a:off x="3893412" y="3269766"/>
            <a:ext cx="1835113" cy="8596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Rounded Rectangle 11">
            <a:extLst>
              <a:ext uri="{FF2B5EF4-FFF2-40B4-BE49-F238E27FC236}">
                <a16:creationId xmlns:a16="http://schemas.microsoft.com/office/drawing/2014/main" id="{45E933DE-BBC8-2AE2-CE2F-3BA75F221846}"/>
              </a:ext>
            </a:extLst>
          </p:cNvPr>
          <p:cNvSpPr/>
          <p:nvPr/>
        </p:nvSpPr>
        <p:spPr>
          <a:xfrm>
            <a:off x="6017414" y="3275039"/>
            <a:ext cx="1835109" cy="8543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Box 6">
            <a:extLst>
              <a:ext uri="{FF2B5EF4-FFF2-40B4-BE49-F238E27FC236}">
                <a16:creationId xmlns:a16="http://schemas.microsoft.com/office/drawing/2014/main" id="{31914835-3F18-0038-2A95-1F00C2BB86BF}"/>
              </a:ext>
            </a:extLst>
          </p:cNvPr>
          <p:cNvSpPr txBox="1"/>
          <p:nvPr/>
        </p:nvSpPr>
        <p:spPr>
          <a:xfrm>
            <a:off x="4933801" y="2881145"/>
            <a:ext cx="191201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核心替换</a:t>
            </a:r>
          </a:p>
        </p:txBody>
      </p:sp>
      <p:sp>
        <p:nvSpPr>
          <p:cNvPr id="86" name="TextBox 6">
            <a:extLst>
              <a:ext uri="{FF2B5EF4-FFF2-40B4-BE49-F238E27FC236}">
                <a16:creationId xmlns:a16="http://schemas.microsoft.com/office/drawing/2014/main" id="{0E807A92-3B08-A14C-405F-A2EF0A06BB6D}"/>
              </a:ext>
            </a:extLst>
          </p:cNvPr>
          <p:cNvSpPr txBox="1"/>
          <p:nvPr/>
        </p:nvSpPr>
        <p:spPr>
          <a:xfrm>
            <a:off x="3886172" y="3317711"/>
            <a:ext cx="645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Int:</a:t>
            </a:r>
            <a:endParaRPr lang="zh-CN" altLang="en-US" sz="1600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Box 6">
            <a:extLst>
              <a:ext uri="{FF2B5EF4-FFF2-40B4-BE49-F238E27FC236}">
                <a16:creationId xmlns:a16="http://schemas.microsoft.com/office/drawing/2014/main" id="{9E6EBFA3-CE30-2C83-9A9C-BB2915687523}"/>
              </a:ext>
            </a:extLst>
          </p:cNvPr>
          <p:cNvSpPr txBox="1"/>
          <p:nvPr/>
        </p:nvSpPr>
        <p:spPr>
          <a:xfrm>
            <a:off x="6096000" y="3348488"/>
            <a:ext cx="15203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 &amp; Double:</a:t>
            </a:r>
            <a:endParaRPr lang="zh-CN" altLang="en-US" sz="1400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TextBox 6">
            <a:extLst>
              <a:ext uri="{FF2B5EF4-FFF2-40B4-BE49-F238E27FC236}">
                <a16:creationId xmlns:a16="http://schemas.microsoft.com/office/drawing/2014/main" id="{1BE103A7-7162-E24C-B638-642ECA189B7B}"/>
              </a:ext>
            </a:extLst>
          </p:cNvPr>
          <p:cNvSpPr txBox="1"/>
          <p:nvPr/>
        </p:nvSpPr>
        <p:spPr>
          <a:xfrm>
            <a:off x="3869521" y="3690879"/>
            <a:ext cx="191201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ap_int</a:t>
            </a:r>
            <a:r>
              <a:rPr lang="en-US" altLang="zh-CN" sz="16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&lt;W&gt;</a:t>
            </a:r>
            <a:endParaRPr lang="zh-CN" altLang="en-US" sz="16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6">
            <a:extLst>
              <a:ext uri="{FF2B5EF4-FFF2-40B4-BE49-F238E27FC236}">
                <a16:creationId xmlns:a16="http://schemas.microsoft.com/office/drawing/2014/main" id="{C094047B-5168-337B-6DC3-B2F471F5545A}"/>
              </a:ext>
            </a:extLst>
          </p:cNvPr>
          <p:cNvSpPr txBox="1"/>
          <p:nvPr/>
        </p:nvSpPr>
        <p:spPr>
          <a:xfrm>
            <a:off x="6035698" y="3678352"/>
            <a:ext cx="191201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ap_fixed</a:t>
            </a:r>
            <a:r>
              <a:rPr lang="en-US" altLang="zh-CN" sz="16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&lt;W,I&gt;</a:t>
            </a:r>
            <a:endParaRPr lang="zh-CN" altLang="en-US" sz="16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Rounded Rectangle 37">
            <a:extLst>
              <a:ext uri="{FF2B5EF4-FFF2-40B4-BE49-F238E27FC236}">
                <a16:creationId xmlns:a16="http://schemas.microsoft.com/office/drawing/2014/main" id="{5C4B6B74-24F8-EC9D-A557-898E2BEBD89E}"/>
              </a:ext>
            </a:extLst>
          </p:cNvPr>
          <p:cNvSpPr/>
          <p:nvPr/>
        </p:nvSpPr>
        <p:spPr>
          <a:xfrm>
            <a:off x="4079017" y="4455248"/>
            <a:ext cx="979177" cy="50166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38">
            <a:extLst>
              <a:ext uri="{FF2B5EF4-FFF2-40B4-BE49-F238E27FC236}">
                <a16:creationId xmlns:a16="http://schemas.microsoft.com/office/drawing/2014/main" id="{F7155B04-E751-5EA9-E562-82341C3C710B}"/>
              </a:ext>
            </a:extLst>
          </p:cNvPr>
          <p:cNvSpPr txBox="1"/>
          <p:nvPr/>
        </p:nvSpPr>
        <p:spPr>
          <a:xfrm>
            <a:off x="4119680" y="4595913"/>
            <a:ext cx="90084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 err="1">
                <a:solidFill>
                  <a:srgbClr val="26A65B"/>
                </a:solidFill>
                <a:latin typeface="Microsoft YaHei"/>
              </a:rPr>
              <a:t>CSim</a:t>
            </a:r>
            <a:endParaRPr sz="1600" b="1" dirty="0">
              <a:solidFill>
                <a:srgbClr val="26A65B"/>
              </a:solidFill>
              <a:latin typeface="Microsoft YaHei"/>
            </a:endParaRPr>
          </a:p>
        </p:txBody>
      </p:sp>
      <p:sp>
        <p:nvSpPr>
          <p:cNvPr id="95" name="Rounded Rectangle 41">
            <a:extLst>
              <a:ext uri="{FF2B5EF4-FFF2-40B4-BE49-F238E27FC236}">
                <a16:creationId xmlns:a16="http://schemas.microsoft.com/office/drawing/2014/main" id="{3BDAB7F6-8063-5980-CA06-86C50A052702}"/>
              </a:ext>
            </a:extLst>
          </p:cNvPr>
          <p:cNvSpPr/>
          <p:nvPr/>
        </p:nvSpPr>
        <p:spPr>
          <a:xfrm>
            <a:off x="5460458" y="4448482"/>
            <a:ext cx="880524" cy="522943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42">
            <a:extLst>
              <a:ext uri="{FF2B5EF4-FFF2-40B4-BE49-F238E27FC236}">
                <a16:creationId xmlns:a16="http://schemas.microsoft.com/office/drawing/2014/main" id="{CCAEFE5C-32EE-DD46-4A47-CCF388FD9C4B}"/>
              </a:ext>
            </a:extLst>
          </p:cNvPr>
          <p:cNvSpPr txBox="1"/>
          <p:nvPr/>
        </p:nvSpPr>
        <p:spPr>
          <a:xfrm>
            <a:off x="5380045" y="4615361"/>
            <a:ext cx="1063447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3670D2"/>
                </a:solidFill>
                <a:latin typeface="Microsoft YaHei"/>
              </a:rPr>
              <a:t>Synth</a:t>
            </a:r>
          </a:p>
        </p:txBody>
      </p:sp>
      <p:sp>
        <p:nvSpPr>
          <p:cNvPr id="99" name="Rounded Rectangle 45">
            <a:extLst>
              <a:ext uri="{FF2B5EF4-FFF2-40B4-BE49-F238E27FC236}">
                <a16:creationId xmlns:a16="http://schemas.microsoft.com/office/drawing/2014/main" id="{39E2D3B5-57A1-9853-84BA-B7C3B1B3EB69}"/>
              </a:ext>
            </a:extLst>
          </p:cNvPr>
          <p:cNvSpPr/>
          <p:nvPr/>
        </p:nvSpPr>
        <p:spPr>
          <a:xfrm>
            <a:off x="6756437" y="4469765"/>
            <a:ext cx="978607" cy="50166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46">
            <a:extLst>
              <a:ext uri="{FF2B5EF4-FFF2-40B4-BE49-F238E27FC236}">
                <a16:creationId xmlns:a16="http://schemas.microsoft.com/office/drawing/2014/main" id="{E852F632-EF80-0802-CBCB-709B79E68451}"/>
              </a:ext>
            </a:extLst>
          </p:cNvPr>
          <p:cNvSpPr txBox="1"/>
          <p:nvPr/>
        </p:nvSpPr>
        <p:spPr>
          <a:xfrm>
            <a:off x="6662832" y="4611027"/>
            <a:ext cx="1182596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D24848"/>
                </a:solidFill>
                <a:latin typeface="Microsoft YaHei"/>
              </a:rPr>
              <a:t>CoSim</a:t>
            </a:r>
          </a:p>
        </p:txBody>
      </p:sp>
      <p:sp>
        <p:nvSpPr>
          <p:cNvPr id="103" name="Rounded Rectangle 11">
            <a:extLst>
              <a:ext uri="{FF2B5EF4-FFF2-40B4-BE49-F238E27FC236}">
                <a16:creationId xmlns:a16="http://schemas.microsoft.com/office/drawing/2014/main" id="{A6C4B374-EB63-B4E7-FECD-BEB7E7443C52}"/>
              </a:ext>
            </a:extLst>
          </p:cNvPr>
          <p:cNvSpPr/>
          <p:nvPr/>
        </p:nvSpPr>
        <p:spPr>
          <a:xfrm>
            <a:off x="8501715" y="3532432"/>
            <a:ext cx="2365635" cy="10524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TextBox 12">
            <a:extLst>
              <a:ext uri="{FF2B5EF4-FFF2-40B4-BE49-F238E27FC236}">
                <a16:creationId xmlns:a16="http://schemas.microsoft.com/office/drawing/2014/main" id="{7CC5C2DA-CAC6-44D9-5826-AA975B9CB6DB}"/>
              </a:ext>
            </a:extLst>
          </p:cNvPr>
          <p:cNvSpPr txBox="1"/>
          <p:nvPr/>
        </p:nvSpPr>
        <p:spPr>
          <a:xfrm>
            <a:off x="8932029" y="3609168"/>
            <a:ext cx="139903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 </a:t>
            </a:r>
            <a:r>
              <a:rPr lang="en-US" altLang="zh-CN"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confidence</a:t>
            </a:r>
            <a:endParaRPr sz="14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TextBox 13">
            <a:extLst>
              <a:ext uri="{FF2B5EF4-FFF2-40B4-BE49-F238E27FC236}">
                <a16:creationId xmlns:a16="http://schemas.microsoft.com/office/drawing/2014/main" id="{EDCB5AE8-C9BA-3EA0-4FC1-C46223DA5555}"/>
              </a:ext>
            </a:extLst>
          </p:cNvPr>
          <p:cNvSpPr txBox="1"/>
          <p:nvPr/>
        </p:nvSpPr>
        <p:spPr>
          <a:xfrm>
            <a:off x="8704668" y="3992695"/>
            <a:ext cx="1853753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只有置信度达到一定程度才会进行位宽优化</a:t>
            </a:r>
            <a:endParaRPr sz="1400" b="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TextBox 6">
            <a:extLst>
              <a:ext uri="{FF2B5EF4-FFF2-40B4-BE49-F238E27FC236}">
                <a16:creationId xmlns:a16="http://schemas.microsoft.com/office/drawing/2014/main" id="{49C0AB41-D72D-4F9D-2683-7E18CF7516E0}"/>
              </a:ext>
            </a:extLst>
          </p:cNvPr>
          <p:cNvSpPr txBox="1"/>
          <p:nvPr/>
        </p:nvSpPr>
        <p:spPr>
          <a:xfrm>
            <a:off x="8617130" y="3111363"/>
            <a:ext cx="191201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置信度估计</a:t>
            </a:r>
            <a:endParaRPr sz="16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680" y="210312"/>
            <a:ext cx="8351004" cy="47705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三类公开任务证明</a:t>
            </a:r>
            <a:r>
              <a:rPr lang="zh-CN" altLang="en-US" sz="28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8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闭环能修、能快、也能避免死锁</a:t>
            </a:r>
            <a:endParaRPr sz="28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896112"/>
            <a:ext cx="914400" cy="50292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321641" y="1389888"/>
            <a:ext cx="2971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541097" y="1627632"/>
            <a:ext cx="960120" cy="256032"/>
          </a:xfrm>
          <a:prstGeom prst="roundRect">
            <a:avLst/>
          </a:prstGeom>
          <a:solidFill>
            <a:srgbClr val="26A65B"/>
          </a:solidFill>
          <a:ln w="12700">
            <a:solidFill>
              <a:srgbClr val="26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59385" y="1664208"/>
            <a:ext cx="923544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功能修复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1097" y="201168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1097" y="2514600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补回第三个顶点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z₂ </a:t>
            </a:r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深度项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1097" y="3108960"/>
            <a:ext cx="2487168" cy="32004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41097" y="3383280"/>
            <a:ext cx="2487168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CSim</a:t>
            </a:r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FAIL → PASS</a:t>
            </a:r>
            <a:endParaRPr lang="en-US" sz="14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Synth PASS</a:t>
            </a:r>
            <a:endParaRPr lang="en-US" sz="14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CoSim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3480" y="1389888"/>
            <a:ext cx="2971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32937" y="1627632"/>
            <a:ext cx="960120" cy="256032"/>
          </a:xfrm>
          <a:prstGeom prst="roundRect">
            <a:avLst/>
          </a:prstGeom>
          <a:solidFill>
            <a:srgbClr val="3670D2"/>
          </a:solidFill>
          <a:ln w="12700">
            <a:solidFill>
              <a:srgbClr val="36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51224" y="1664208"/>
            <a:ext cx="923544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2937" y="201168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Dot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2937" y="2514600"/>
            <a:ext cx="24688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40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优化来源</a:t>
            </a:r>
            <a:r>
              <a:rPr sz="140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数组划分、展开与流水。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32937" y="3108960"/>
            <a:ext cx="2487168" cy="32004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2937" y="3383280"/>
            <a:ext cx="2487168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1027 → 89 cycles</a:t>
            </a:r>
            <a:endParaRPr lang="en-US" sz="14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II = 1</a:t>
            </a:r>
            <a:endParaRPr lang="en-US" sz="14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11.54×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5321" y="1389888"/>
            <a:ext cx="2971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24777" y="1627632"/>
            <a:ext cx="960120" cy="256032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43064" y="1664208"/>
            <a:ext cx="923544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结构修复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4777" y="201168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Residual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4777" y="2514600"/>
            <a:ext cx="24688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 stream 交替写入，消除有限 FIFO 背压死锁。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4777" y="3108960"/>
            <a:ext cx="2487168" cy="3200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24777" y="3383280"/>
            <a:ext cx="2487168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CoSim deadlock → PASS</a:t>
            </a:r>
            <a:endParaRPr lang="en-US" sz="14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135 → 68 cycles</a:t>
            </a:r>
            <a:endParaRPr lang="en-US" sz="1400" b="1" dirty="0">
              <a:solidFill>
                <a:srgbClr val="1426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1.99×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504688"/>
            <a:ext cx="10378440" cy="493776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3000" y="5632704"/>
            <a:ext cx="99669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三项任务分别覆盖功能错误、性能瓶颈和结构性死锁，说明闭环不仅能修</a:t>
            </a:r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400" b="1" dirty="0" err="1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bug，也能做可验证优化</a:t>
            </a:r>
            <a:r>
              <a:rPr sz="1400" b="1" dirty="0">
                <a:solidFill>
                  <a:srgbClr val="14264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680" y="210312"/>
            <a:ext cx="10789920" cy="56692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 dirty="0" err="1">
                <a:solidFill>
                  <a:srgbClr val="142644"/>
                </a:solidFill>
                <a:latin typeface="Microsoft YaHei"/>
              </a:rPr>
              <a:t>性能任务在满足时序的前提下显著降低延迟</a:t>
            </a:r>
            <a:endParaRPr sz="2800" b="1" dirty="0">
              <a:solidFill>
                <a:srgbClr val="142644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896112"/>
            <a:ext cx="914400" cy="50292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79" y="1280160"/>
            <a:ext cx="2377441" cy="1238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389888"/>
            <a:ext cx="218724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b="1">
                <a:solidFill>
                  <a:srgbClr val="3670D2"/>
                </a:solidFill>
                <a:latin typeface="Microsoft YaHei"/>
              </a:rPr>
              <a:t>11.54×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1901952"/>
            <a:ext cx="2139696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142644"/>
                </a:solidFill>
                <a:latin typeface="Microsoft YaHei"/>
              </a:rPr>
              <a:t>Dot Product 加速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176272"/>
            <a:ext cx="213969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dirty="0">
                <a:solidFill>
                  <a:srgbClr val="6B778C"/>
                </a:solidFill>
                <a:latin typeface="Microsoft YaHei"/>
              </a:rPr>
              <a:t>1027 → 89 cycles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79" y="2697480"/>
            <a:ext cx="2377441" cy="1238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807208"/>
            <a:ext cx="218724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b="1">
                <a:solidFill>
                  <a:srgbClr val="F39C12"/>
                </a:solidFill>
                <a:latin typeface="Microsoft YaHei"/>
              </a:rPr>
              <a:t>1.99×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3319272"/>
            <a:ext cx="2139696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142644"/>
                </a:solidFill>
                <a:latin typeface="Microsoft YaHei"/>
              </a:rPr>
              <a:t>Residual 加速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3593592"/>
            <a:ext cx="213969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B778C"/>
                </a:solidFill>
                <a:latin typeface="Microsoft YaHei"/>
              </a:rPr>
              <a:t>135 → 68 cycles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79" y="4114800"/>
            <a:ext cx="2377441" cy="1238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224528"/>
            <a:ext cx="218724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b="1">
                <a:solidFill>
                  <a:srgbClr val="26A65B"/>
                </a:solidFill>
                <a:latin typeface="Microsoft YaHei"/>
              </a:rPr>
              <a:t>&gt;315MHz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736592"/>
            <a:ext cx="2139696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142644"/>
                </a:solidFill>
                <a:latin typeface="Microsoft YaHei"/>
              </a:rPr>
              <a:t>最终 Fmax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5010912"/>
            <a:ext cx="213969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B778C"/>
                </a:solidFill>
                <a:latin typeface="Microsoft YaHei"/>
              </a:rPr>
              <a:t>均高于100MHz要求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1234440"/>
            <a:ext cx="6789419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59" y="1463040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42644"/>
                </a:solidFill>
                <a:latin typeface="Microsoft YaHei"/>
              </a:rPr>
              <a:t>Latency cycles：Baseline vs Final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248551"/>
            <a:ext cx="530352" cy="2689208"/>
          </a:xfrm>
          <a:prstGeom prst="rect">
            <a:avLst/>
          </a:prstGeom>
          <a:solidFill>
            <a:srgbClr val="B8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18304" y="4704712"/>
            <a:ext cx="530352" cy="233047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9080" y="2019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6B778C"/>
                </a:solidFill>
                <a:latin typeface="Microsoft YaHei"/>
              </a:rPr>
              <a:t>1027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447611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142644"/>
                </a:solidFill>
                <a:latin typeface="Microsoft YaHei"/>
              </a:rPr>
              <a:t>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59" y="504748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42644"/>
                </a:solidFill>
                <a:latin typeface="Microsoft YaHei"/>
              </a:rPr>
              <a:t>Dot Product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59" y="4584261"/>
            <a:ext cx="530352" cy="353498"/>
          </a:xfrm>
          <a:prstGeom prst="rect">
            <a:avLst/>
          </a:prstGeom>
          <a:solidFill>
            <a:srgbClr val="B8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89519" y="4759701"/>
            <a:ext cx="530352" cy="17805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435566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6B778C"/>
                </a:solidFill>
                <a:latin typeface="Microsoft YaHei"/>
              </a:rPr>
              <a:t>135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453110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142644"/>
                </a:solidFill>
                <a:latin typeface="Microsoft YaHei"/>
              </a:rPr>
              <a:t>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19" y="504748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42644"/>
                </a:solidFill>
                <a:latin typeface="Microsoft YaHei"/>
              </a:rPr>
              <a:t>Residual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38" y="2309143"/>
            <a:ext cx="164592" cy="128016"/>
          </a:xfrm>
          <a:prstGeom prst="rect">
            <a:avLst/>
          </a:prstGeom>
          <a:solidFill>
            <a:srgbClr val="B8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38" y="2263423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dirty="0">
                <a:solidFill>
                  <a:srgbClr val="6B778C"/>
                </a:solidFill>
                <a:latin typeface="Microsoft YaHei"/>
              </a:rPr>
              <a:t>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9238" y="2606219"/>
            <a:ext cx="164592" cy="128016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77838" y="2560499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6B778C"/>
                </a:solidFill>
                <a:latin typeface="Microsoft YaHei"/>
              </a:rPr>
              <a:t>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7619" y="5649226"/>
            <a:ext cx="672083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>
                <a:solidFill>
                  <a:srgbClr val="505C6E"/>
                </a:solidFill>
                <a:latin typeface="Microsoft YaHei"/>
              </a:rPr>
              <a:t>Projection </a:t>
            </a:r>
            <a:r>
              <a:rPr sz="1200" b="0" dirty="0" err="1">
                <a:solidFill>
                  <a:srgbClr val="505C6E"/>
                </a:solidFill>
                <a:latin typeface="Microsoft YaHei"/>
              </a:rPr>
              <a:t>是功能修复，基线</a:t>
            </a:r>
            <a:r>
              <a:rPr sz="1200" b="0" dirty="0">
                <a:solidFill>
                  <a:srgbClr val="505C6E"/>
                </a:solidFill>
                <a:latin typeface="Microsoft YaHei"/>
              </a:rPr>
              <a:t> </a:t>
            </a:r>
            <a:r>
              <a:rPr sz="1200" b="0" dirty="0" err="1">
                <a:solidFill>
                  <a:srgbClr val="505C6E"/>
                </a:solidFill>
                <a:latin typeface="Microsoft YaHei"/>
              </a:rPr>
              <a:t>CSim</a:t>
            </a:r>
            <a:r>
              <a:rPr sz="1200" b="0" dirty="0">
                <a:solidFill>
                  <a:srgbClr val="505C6E"/>
                </a:solidFill>
                <a:latin typeface="Microsoft YaHei"/>
              </a:rPr>
              <a:t> </a:t>
            </a:r>
            <a:r>
              <a:rPr sz="1200" b="0" dirty="0" err="1">
                <a:solidFill>
                  <a:srgbClr val="505C6E"/>
                </a:solidFill>
                <a:latin typeface="Microsoft YaHei"/>
              </a:rPr>
              <a:t>失败，因此不计算加速比；性能图只比较有基线延迟的任务</a:t>
            </a:r>
            <a:r>
              <a:rPr sz="1200" b="0" dirty="0">
                <a:solidFill>
                  <a:srgbClr val="505C6E"/>
                </a:solidFill>
                <a:latin typeface="Microsoft YaHei"/>
              </a:rPr>
              <a:t>。</a:t>
            </a:r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1A6AF38A-7D9E-9A75-D384-E7DD80BE9463}"/>
              </a:ext>
            </a:extLst>
          </p:cNvPr>
          <p:cNvSpPr/>
          <p:nvPr/>
        </p:nvSpPr>
        <p:spPr>
          <a:xfrm>
            <a:off x="8243829" y="2280329"/>
            <a:ext cx="164592" cy="128016"/>
          </a:xfrm>
          <a:prstGeom prst="rect">
            <a:avLst/>
          </a:prstGeom>
          <a:solidFill>
            <a:srgbClr val="B8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0">
            <a:extLst>
              <a:ext uri="{FF2B5EF4-FFF2-40B4-BE49-F238E27FC236}">
                <a16:creationId xmlns:a16="http://schemas.microsoft.com/office/drawing/2014/main" id="{30C40714-4133-8822-5AB2-9EDBCC492B8B}"/>
              </a:ext>
            </a:extLst>
          </p:cNvPr>
          <p:cNvSpPr txBox="1"/>
          <p:nvPr/>
        </p:nvSpPr>
        <p:spPr>
          <a:xfrm>
            <a:off x="8472429" y="223460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dirty="0">
                <a:solidFill>
                  <a:srgbClr val="6B778C"/>
                </a:solidFill>
                <a:latin typeface="Microsoft YaHei"/>
              </a:rPr>
              <a:t>Baseline</a:t>
            </a:r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8C94799A-34C6-1CFF-74F1-2B08D2A6A152}"/>
              </a:ext>
            </a:extLst>
          </p:cNvPr>
          <p:cNvSpPr/>
          <p:nvPr/>
        </p:nvSpPr>
        <p:spPr>
          <a:xfrm>
            <a:off x="8243829" y="2577405"/>
            <a:ext cx="164592" cy="12801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2">
            <a:extLst>
              <a:ext uri="{FF2B5EF4-FFF2-40B4-BE49-F238E27FC236}">
                <a16:creationId xmlns:a16="http://schemas.microsoft.com/office/drawing/2014/main" id="{AB86AA30-EB82-1B97-9F89-EDACF5F52719}"/>
              </a:ext>
            </a:extLst>
          </p:cNvPr>
          <p:cNvSpPr txBox="1"/>
          <p:nvPr/>
        </p:nvSpPr>
        <p:spPr>
          <a:xfrm>
            <a:off x="8472429" y="2531685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6B778C"/>
                </a:solidFill>
                <a:latin typeface="Microsoft YaHei"/>
              </a:rPr>
              <a:t>Final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04672" y="23774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2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大模型实验结果：Hybrid 让 LLM 进入可验证 HLS 搜索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78638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0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个模型 × 3 类任务 × 3 次重复；模型只做动作/参数选择，候选仍由 CSim / Synth / CoSim 证据决定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088136"/>
            <a:ext cx="1051560" cy="41148"/>
          </a:xfrm>
          <a:prstGeom prst="rect">
            <a:avLst/>
          </a:prstGeom>
          <a:solidFill>
            <a:srgbClr val="2F6BCB"/>
          </a:solidFill>
          <a:ln w="12700">
            <a:solidFill>
              <a:srgbClr val="2F6BC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276148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  <a:effectLst>
            <a:outerShdw blurRad="19050" dist="50800" dir="2700000" algn="bl" rotWithShape="0">
              <a:srgbClr val="CAD4E1">
                <a:alpha val="18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F6B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2200" dirty="0"/>
          </a:p>
          <a:p>
            <a:pPr marL="0" indent="0">
              <a:buNone/>
            </a:pPr>
            <a:r>
              <a:rPr lang="en-US" sz="950" b="1" dirty="0">
                <a:solidFill>
                  <a:srgbClr val="172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API + Vitis 运行
</a:t>
            </a:r>
            <a:r>
              <a:rPr lang="en-US" sz="760" dirty="0">
                <a:solidFill>
                  <a:srgbClr val="50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3×3×3；全部有证据索引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243584"/>
            <a:ext cx="2761488" cy="32004"/>
          </a:xfrm>
          <a:prstGeom prst="rect">
            <a:avLst/>
          </a:prstGeom>
          <a:solidFill>
            <a:srgbClr val="2F6BCB"/>
          </a:solidFill>
          <a:ln w="12700">
            <a:solidFill>
              <a:srgbClr val="2F6BC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447288" y="1280160"/>
            <a:ext cx="276148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  <a:effectLst>
            <a:outerShdw blurRad="19050" dist="50800" dir="2700000" algn="bl" rotWithShape="0">
              <a:srgbClr val="CAD4E1">
                <a:alpha val="18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A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23/27</a:t>
            </a:r>
            <a:endParaRPr lang="en-US" sz="2200" dirty="0"/>
          </a:p>
          <a:p>
            <a:pPr marL="0" indent="0">
              <a:buNone/>
            </a:pPr>
            <a:r>
              <a:rPr lang="en-US" sz="950" b="1" dirty="0">
                <a:solidFill>
                  <a:srgbClr val="172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端到端目标达成
</a:t>
            </a:r>
            <a:r>
              <a:rPr lang="en-US" sz="760" dirty="0">
                <a:solidFill>
                  <a:srgbClr val="50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26/27 完整验证通过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47288" y="1243584"/>
            <a:ext cx="2761488" cy="32004"/>
          </a:xfrm>
          <a:prstGeom prst="rect">
            <a:avLst/>
          </a:prstGeom>
          <a:solidFill>
            <a:srgbClr val="1EAD6D"/>
          </a:solidFill>
          <a:ln w="12700">
            <a:solidFill>
              <a:srgbClr val="1EAD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91656" y="1280160"/>
            <a:ext cx="276148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  <a:effectLst>
            <a:outerShdw blurRad="19050" dist="50800" dir="2700000" algn="bl" rotWithShape="0">
              <a:srgbClr val="CAD4E1">
                <a:alpha val="18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0/3 → 6/9</a:t>
            </a:r>
            <a:endParaRPr lang="en-US" sz="2200" dirty="0"/>
          </a:p>
          <a:p>
            <a:pPr marL="0" indent="0">
              <a:buNone/>
            </a:pPr>
            <a:r>
              <a:rPr lang="en-US" sz="950" b="1" dirty="0">
                <a:solidFill>
                  <a:srgbClr val="172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DotProduct 目标达成
</a:t>
            </a:r>
            <a:r>
              <a:rPr lang="en-US" sz="760" dirty="0">
                <a:solidFill>
                  <a:srgbClr val="50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LLM-only 到 Hybrid；性能优化显著改善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91656" y="1243584"/>
            <a:ext cx="2761488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336024" y="1280160"/>
            <a:ext cx="276148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  <a:effectLst>
            <a:outerShdw blurRad="19050" dist="50800" dir="2700000" algn="bl" rotWithShape="0">
              <a:srgbClr val="CAD4E1">
                <a:alpha val="18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280k</a:t>
            </a:r>
            <a:endParaRPr lang="en-US" sz="2200" dirty="0"/>
          </a:p>
          <a:p>
            <a:pPr marL="0" indent="0">
              <a:buNone/>
            </a:pPr>
            <a:r>
              <a:rPr lang="en-US" sz="950" b="1" dirty="0">
                <a:solidFill>
                  <a:srgbClr val="172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tokens 全部入账
</a:t>
            </a:r>
            <a:r>
              <a:rPr lang="en-US" sz="760" dirty="0">
                <a:solidFill>
                  <a:srgbClr val="50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不扣除缓存命中；与工具 credits 分开统计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336024" y="1243584"/>
            <a:ext cx="2761488" cy="32004"/>
          </a:xfrm>
          <a:prstGeom prst="rect">
            <a:avLst/>
          </a:prstGeom>
          <a:solidFill>
            <a:srgbClr val="16A4B8"/>
          </a:solidFill>
          <a:ln w="12700">
            <a:solidFill>
              <a:srgbClr val="16A4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0" descr="/mnt/data/rc3_ppt_assets/FPT26_submission/reports/experimental_release/figures/success_rat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57984"/>
            <a:ext cx="5650992" cy="3456432"/>
          </a:xfrm>
          <a:prstGeom prst="rect">
            <a:avLst/>
          </a:prstGeom>
        </p:spPr>
      </p:pic>
      <p:pic>
        <p:nvPicPr>
          <p:cNvPr id="15" name="Image 1" descr="/mnt/data/rc3_ppt_assets/FPT26_submission/reports/experimental_release/figures/dotproduct_latency_ii_resour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57984"/>
            <a:ext cx="5358384" cy="34564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" y="5623560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50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成功率矩阵：Qwen3.5 的 DotProduct 候选通过完整验证但未达性能目标；DeepSeek 的一次 Residual 归为工具验证失败。</a:t>
            </a:r>
            <a:endParaRPr lang="en-US" sz="770" dirty="0"/>
          </a:p>
        </p:txBody>
      </p:sp>
      <p:sp>
        <p:nvSpPr>
          <p:cNvPr id="17" name="Text 13"/>
          <p:cNvSpPr/>
          <p:nvPr/>
        </p:nvSpPr>
        <p:spPr>
          <a:xfrm>
            <a:off x="6382512" y="562356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50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性能视角：DeepSeek 与 Qwen3.6 在 DotProduct 三次重复中均稳定产生 70-cycle 候选，SHA 一致。</a:t>
            </a:r>
            <a:endParaRPr lang="en-US" sz="770" dirty="0"/>
          </a:p>
        </p:txBody>
      </p:sp>
      <p:sp>
        <p:nvSpPr>
          <p:cNvPr id="18" name="Text 14"/>
          <p:cNvSpPr/>
          <p:nvPr/>
        </p:nvSpPr>
        <p:spPr>
          <a:xfrm>
            <a:off x="502920" y="5989320"/>
            <a:ext cx="11210544" cy="530352"/>
          </a:xfrm>
          <a:prstGeom prst="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DCE4EF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2A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汇报口径：Hybrid 不是替代验证链，而是把通用硬件模式和宏动作空间交给 LLM 选择；最终接受仍由独立 CSim / Synth / CoSim 与 best-so-far 机制决定。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412480" y="6601968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8A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reports/pilot02_formal_r3 · reports/experimental_release/figures</a:t>
            </a:r>
            <a:endParaRPr lang="en-US" sz="5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680" y="210312"/>
            <a:ext cx="10789920" cy="56692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42644"/>
                </a:solidFill>
                <a:latin typeface="Microsoft YaHei"/>
              </a:rPr>
              <a:t>工程化让每次修改可追踪，也明确不夸大验证边界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896112"/>
            <a:ext cx="914400" cy="50292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42316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444752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1790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142644"/>
                </a:solidFill>
                <a:latin typeface="Microsoft YaHei"/>
              </a:rPr>
              <a:t>预算与验证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" y="1892808"/>
            <a:ext cx="225856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05C6E"/>
                </a:solidFill>
                <a:latin typeface="Microsoft YaHei"/>
              </a:rPr>
              <a:t>CSim / Synth / CoSim
1 / 4 / 20 Credits
未通过候选不晋升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42316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73152" cy="1444752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151790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142644"/>
                </a:solidFill>
                <a:latin typeface="Microsoft YaHei"/>
              </a:rPr>
              <a:t>受约束修改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1" y="1892808"/>
            <a:ext cx="225856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05C6E"/>
                </a:solidFill>
                <a:latin typeface="Microsoft YaHei"/>
              </a:rPr>
              <a:t>Action Schema · 签名保护
固定头文件与 testbench
每轮独立目录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242316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73152" cy="14447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1" y="151790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142644"/>
                </a:solidFill>
                <a:latin typeface="Microsoft YaHei"/>
              </a:rPr>
              <a:t>可复现发布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0" y="1892808"/>
            <a:ext cx="225856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05C6E"/>
                </a:solidFill>
                <a:latin typeface="Microsoft YaHei"/>
              </a:rPr>
              <a:t>Docker 控制层 · Mock回归
SHA-256 · Manifest
Audit · Precheck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1417320"/>
            <a:ext cx="251974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59" y="1417320"/>
            <a:ext cx="73152" cy="1444752"/>
          </a:xfrm>
          <a:prstGeom prst="rect">
            <a:avLst/>
          </a:prstGeom>
          <a:solidFill>
            <a:srgbClr val="D2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7151" y="151790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142644"/>
                </a:solidFill>
                <a:latin typeface="Microsoft YaHei"/>
              </a:rPr>
              <a:t>边界透明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0" y="1892808"/>
            <a:ext cx="225856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LLM：</a:t>
            </a:r>
            <a:r>
              <a:rPr lang="zh-CN" altLang="en-US"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Linux Vitis </a:t>
            </a:r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Docker：待验证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
</a:t>
            </a:r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</a:t>
            </a:r>
            <a:r>
              <a:rPr sz="1400" b="0" dirty="0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U55C </a:t>
            </a:r>
            <a:r>
              <a:rPr sz="1400" b="0" dirty="0" err="1">
                <a:solidFill>
                  <a:srgbClr val="50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上板：未声明</a:t>
            </a:r>
            <a:endParaRPr sz="1400" b="0" dirty="0">
              <a:solidFill>
                <a:srgbClr val="50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493008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3685032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42644"/>
                </a:solidFill>
                <a:latin typeface="Microsoft YaHei"/>
              </a:rPr>
              <a:t>模型调用可观测：Token、缓存与重试全部入账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4164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505C6E"/>
                </a:solidFill>
                <a:latin typeface="Microsoft YaHei"/>
              </a:rPr>
              <a:t>DeepSeek 调试阶段已记录 provider usage；一次请求中 2560/2652 prompt tokens 命中服务端前缀缓存。正式评测仍以总Token、缓存Token和未缓存Token分别报告。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493008"/>
            <a:ext cx="4709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685032"/>
            <a:ext cx="41605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42644"/>
                </a:solidFill>
                <a:latin typeface="Microsoft YaHei"/>
              </a:rPr>
              <a:t>位宽插件边界：数值回归不是RTL证据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2151" y="3994809"/>
            <a:ext cx="43698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dirty="0">
                <a:solidFill>
                  <a:srgbClr val="505C6E"/>
                </a:solidFill>
                <a:latin typeface="Microsoft YaHei"/>
              </a:rPr>
              <a:t>1005个定点数值用例通过，用于证明候选安全性；最终是否接受仍由 Vitis </a:t>
            </a:r>
            <a:r>
              <a:rPr sz="1400" b="0" dirty="0" err="1">
                <a:solidFill>
                  <a:srgbClr val="505C6E"/>
                </a:solidFill>
                <a:latin typeface="Microsoft YaHei"/>
              </a:rPr>
              <a:t>CSim、Synth、CoSim</a:t>
            </a:r>
            <a:r>
              <a:rPr sz="1400" b="0" dirty="0">
                <a:solidFill>
                  <a:srgbClr val="505C6E"/>
                </a:solidFill>
                <a:latin typeface="Microsoft YaHei"/>
              </a:rPr>
              <a:t> </a:t>
            </a:r>
            <a:r>
              <a:rPr sz="1400" b="0" dirty="0" err="1">
                <a:solidFill>
                  <a:srgbClr val="505C6E"/>
                </a:solidFill>
                <a:latin typeface="Microsoft YaHei"/>
              </a:rPr>
              <a:t>决定</a:t>
            </a:r>
            <a:r>
              <a:rPr sz="1400" b="0" dirty="0">
                <a:solidFill>
                  <a:srgbClr val="505C6E"/>
                </a:solidFill>
                <a:latin typeface="Microsoft YaHei"/>
              </a:rPr>
              <a:t>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5212080"/>
            <a:ext cx="10012680" cy="493776"/>
          </a:xfrm>
          <a:prstGeom prst="roundRect">
            <a:avLst/>
          </a:prstGeom>
          <a:solidFill>
            <a:srgbClr val="142644"/>
          </a:solidFill>
          <a:ln w="12700">
            <a:solidFill>
              <a:srgbClr val="14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61871" y="5349240"/>
            <a:ext cx="1026175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工程化价值：候选、动作、哈希、报告和验证状态共同构成可回退、可复核的证据链。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77240" y="777240"/>
            <a:ext cx="10652760" cy="50749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417320"/>
            <a:ext cx="9784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>
                <a:solidFill>
                  <a:srgbClr val="142644"/>
                </a:solidFill>
                <a:latin typeface="Microsoft YaHei"/>
              </a:rPr>
              <a:t>让每一次 HLS 修改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057400"/>
            <a:ext cx="978408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dirty="0" err="1">
                <a:solidFill>
                  <a:srgbClr val="3670D2"/>
                </a:solidFill>
                <a:latin typeface="Microsoft YaHei"/>
              </a:rPr>
              <a:t>可验证、可审计、可复现</a:t>
            </a:r>
            <a:endParaRPr sz="4000" b="1" dirty="0">
              <a:solidFill>
                <a:srgbClr val="3670D2"/>
              </a:solidFill>
              <a:latin typeface="Microsoft Ya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415805" y="3246121"/>
            <a:ext cx="301903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5806" y="3246121"/>
            <a:ext cx="86258" cy="960120"/>
          </a:xfrm>
          <a:prstGeom prst="rect">
            <a:avLst/>
          </a:prstGeom>
          <a:solidFill>
            <a:srgbClr val="36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80397" y="3346705"/>
            <a:ext cx="2695567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42644"/>
                </a:solidFill>
                <a:latin typeface="Microsoft YaHei"/>
              </a:rPr>
              <a:t>闭环诊断—规划—验证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0398" y="3721609"/>
            <a:ext cx="2641654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 err="1">
                <a:solidFill>
                  <a:srgbClr val="505C6E"/>
                </a:solidFill>
                <a:latin typeface="Microsoft YaHei"/>
              </a:rPr>
              <a:t>不是一次性重写，而是证据驱动迭代</a:t>
            </a:r>
            <a:r>
              <a:rPr sz="1200" b="0" dirty="0">
                <a:solidFill>
                  <a:srgbClr val="505C6E"/>
                </a:solidFill>
                <a:latin typeface="Microsoft YaHei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99085" y="3246121"/>
            <a:ext cx="301903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99086" y="3246121"/>
            <a:ext cx="86258" cy="960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63677" y="3346705"/>
            <a:ext cx="2695567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42644"/>
                </a:solidFill>
                <a:latin typeface="Microsoft YaHei"/>
              </a:rPr>
              <a:t>硬件知识库驱动优化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3678" y="3721609"/>
            <a:ext cx="2641654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05C6E"/>
                </a:solidFill>
                <a:latin typeface="Microsoft YaHei"/>
              </a:rPr>
              <a:t>架构、算术、位宽三层共同作用。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2364" y="3246121"/>
            <a:ext cx="301903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2365" y="3246121"/>
            <a:ext cx="86258" cy="96012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6956" y="3346705"/>
            <a:ext cx="2695567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42644"/>
                </a:solidFill>
                <a:latin typeface="Microsoft YaHei"/>
              </a:rPr>
              <a:t>3/3公开任务三阶段通过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6957" y="3721609"/>
            <a:ext cx="264165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05C6E"/>
                </a:solidFill>
                <a:latin typeface="Microsoft YaHei"/>
              </a:rPr>
              <a:t>CSim、Synth、Verilog CoSim 形成闭环证据。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83480"/>
            <a:ext cx="93268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dirty="0" err="1">
                <a:solidFill>
                  <a:srgbClr val="505C6E"/>
                </a:solidFill>
                <a:latin typeface="Microsoft YaHei"/>
              </a:rPr>
              <a:t>完成三模型真实评测，并将</a:t>
            </a:r>
            <a:r>
              <a:rPr sz="1600" b="0" dirty="0">
                <a:solidFill>
                  <a:srgbClr val="505C6E"/>
                </a:solidFill>
                <a:latin typeface="Microsoft YaHei"/>
              </a:rPr>
              <a:t> </a:t>
            </a:r>
            <a:r>
              <a:rPr sz="1600" b="0" dirty="0" err="1">
                <a:solidFill>
                  <a:srgbClr val="505C6E"/>
                </a:solidFill>
                <a:latin typeface="Microsoft YaHei"/>
              </a:rPr>
              <a:t>Token、缓存命中、成功率和硬件指标一并纳入最终报告</a:t>
            </a:r>
            <a:r>
              <a:rPr sz="1600" b="0" dirty="0">
                <a:solidFill>
                  <a:srgbClr val="505C6E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BA36-2DE8-8D0F-CA27-D4269510D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CBC668-70A5-DDB0-B8C1-8EC6371D2348}"/>
              </a:ext>
            </a:extLst>
          </p:cNvPr>
          <p:cNvSpPr txBox="1"/>
          <p:nvPr/>
        </p:nvSpPr>
        <p:spPr>
          <a:xfrm>
            <a:off x="749808" y="1170432"/>
            <a:ext cx="10698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 err="1">
                <a:solidFill>
                  <a:srgbClr val="6B778C"/>
                </a:solidFill>
                <a:latin typeface="Microsoft YaHei"/>
              </a:rPr>
              <a:t>面向</a:t>
            </a:r>
            <a:r>
              <a:rPr sz="2400" b="1" dirty="0">
                <a:solidFill>
                  <a:srgbClr val="6B778C"/>
                </a:solidFill>
                <a:latin typeface="Microsoft YaHei"/>
              </a:rPr>
              <a:t> Vitis HLS 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ECCDAE-F8C8-82F2-3020-42991B9404DD}"/>
              </a:ext>
            </a:extLst>
          </p:cNvPr>
          <p:cNvSpPr txBox="1"/>
          <p:nvPr/>
        </p:nvSpPr>
        <p:spPr>
          <a:xfrm>
            <a:off x="749808" y="1664208"/>
            <a:ext cx="107899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dirty="0" err="1">
                <a:solidFill>
                  <a:srgbClr val="142644"/>
                </a:solidFill>
                <a:latin typeface="Microsoft YaHei"/>
              </a:rPr>
              <a:t>预算感知闭环修复与优化</a:t>
            </a:r>
            <a:r>
              <a:rPr sz="4200" b="1" dirty="0">
                <a:solidFill>
                  <a:srgbClr val="142644"/>
                </a:solidFill>
                <a:latin typeface="Microsoft YaHei"/>
              </a:rPr>
              <a:t> Agent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EBC1D-E582-FD97-BAA1-0B1D57E997B8}"/>
              </a:ext>
            </a:extLst>
          </p:cNvPr>
          <p:cNvSpPr txBox="1"/>
          <p:nvPr/>
        </p:nvSpPr>
        <p:spPr>
          <a:xfrm>
            <a:off x="786384" y="4640065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3670D2"/>
                </a:solidFill>
                <a:latin typeface="Microsoft YaHei"/>
              </a:rPr>
              <a:t>FPT 2026 Track-A </a:t>
            </a:r>
            <a:r>
              <a:rPr sz="1600" b="1" dirty="0" err="1">
                <a:solidFill>
                  <a:srgbClr val="3670D2"/>
                </a:solidFill>
                <a:latin typeface="Microsoft YaHei"/>
              </a:rPr>
              <a:t>项目成果汇报</a:t>
            </a:r>
            <a:endParaRPr sz="1600" b="1" dirty="0">
              <a:solidFill>
                <a:srgbClr val="3670D2"/>
              </a:solidFill>
              <a:latin typeface="Microsoft YaHe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844C7-4EF8-56AB-FF7A-232D71503FEB}"/>
              </a:ext>
            </a:extLst>
          </p:cNvPr>
          <p:cNvSpPr txBox="1"/>
          <p:nvPr/>
        </p:nvSpPr>
        <p:spPr>
          <a:xfrm>
            <a:off x="786384" y="5014969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 err="1">
                <a:solidFill>
                  <a:srgbClr val="505C6E"/>
                </a:solidFill>
                <a:latin typeface="Microsoft YaHei"/>
              </a:rPr>
              <a:t>康宋睿</a:t>
            </a:r>
            <a:r>
              <a:rPr sz="1300" b="0" dirty="0">
                <a:solidFill>
                  <a:srgbClr val="505C6E"/>
                </a:solidFill>
                <a:latin typeface="Microsoft YaHei"/>
              </a:rPr>
              <a:t> · </a:t>
            </a:r>
            <a:r>
              <a:rPr sz="1300" b="0" dirty="0" err="1">
                <a:solidFill>
                  <a:srgbClr val="505C6E"/>
                </a:solidFill>
                <a:latin typeface="Microsoft YaHei"/>
              </a:rPr>
              <a:t>曹忆璇</a:t>
            </a:r>
            <a:r>
              <a:rPr sz="1300" b="0" dirty="0">
                <a:solidFill>
                  <a:srgbClr val="505C6E"/>
                </a:solidFill>
                <a:latin typeface="Microsoft YaHei"/>
              </a:rPr>
              <a:t> · </a:t>
            </a:r>
            <a:r>
              <a:rPr sz="1300" b="0" dirty="0" err="1">
                <a:solidFill>
                  <a:srgbClr val="505C6E"/>
                </a:solidFill>
                <a:latin typeface="Microsoft YaHei"/>
              </a:rPr>
              <a:t>张容慧</a:t>
            </a:r>
            <a:endParaRPr sz="1300" b="0" dirty="0">
              <a:solidFill>
                <a:srgbClr val="505C6E"/>
              </a:solidFill>
              <a:latin typeface="Microsoft YaHe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35C6C0-1141-BBB4-9EA4-297862A8656B}"/>
              </a:ext>
            </a:extLst>
          </p:cNvPr>
          <p:cNvSpPr txBox="1"/>
          <p:nvPr/>
        </p:nvSpPr>
        <p:spPr>
          <a:xfrm>
            <a:off x="786384" y="6172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dirty="0" err="1">
                <a:solidFill>
                  <a:srgbClr val="6B778C"/>
                </a:solidFill>
                <a:latin typeface="Microsoft YaHei"/>
              </a:rPr>
              <a:t>关键词：Action</a:t>
            </a:r>
            <a:r>
              <a:rPr sz="1050" b="0" dirty="0">
                <a:solidFill>
                  <a:srgbClr val="6B778C"/>
                </a:solidFill>
                <a:latin typeface="Microsoft YaHei"/>
              </a:rPr>
              <a:t> Schema · Budget Policy · </a:t>
            </a:r>
            <a:r>
              <a:rPr sz="1050" b="0" dirty="0" err="1">
                <a:solidFill>
                  <a:srgbClr val="6B778C"/>
                </a:solidFill>
                <a:latin typeface="Microsoft YaHei"/>
              </a:rPr>
              <a:t>CSim</a:t>
            </a:r>
            <a:r>
              <a:rPr sz="1050" b="0" dirty="0">
                <a:solidFill>
                  <a:srgbClr val="6B778C"/>
                </a:solidFill>
                <a:latin typeface="Microsoft YaHei"/>
              </a:rPr>
              <a:t>/Synth/CoSim · </a:t>
            </a:r>
            <a:r>
              <a:rPr sz="1050" b="0" dirty="0" err="1">
                <a:solidFill>
                  <a:srgbClr val="6B778C"/>
                </a:solidFill>
                <a:latin typeface="Microsoft YaHei"/>
              </a:rPr>
              <a:t>Bitwidth</a:t>
            </a:r>
            <a:r>
              <a:rPr sz="1050" b="0" dirty="0">
                <a:solidFill>
                  <a:srgbClr val="6B778C"/>
                </a:solidFill>
                <a:latin typeface="Microsoft YaHei"/>
              </a:rPr>
              <a:t> Optimization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FCAE70DE-724D-F1F6-E793-DF64DE568968}"/>
              </a:ext>
            </a:extLst>
          </p:cNvPr>
          <p:cNvSpPr txBox="1"/>
          <p:nvPr/>
        </p:nvSpPr>
        <p:spPr>
          <a:xfrm>
            <a:off x="5000860" y="3159410"/>
            <a:ext cx="226389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4200" b="1" dirty="0">
                <a:solidFill>
                  <a:srgbClr val="142644"/>
                </a:solidFill>
                <a:latin typeface="Microsoft YaHei"/>
              </a:rPr>
              <a:t>谢谢聆听</a:t>
            </a:r>
            <a:endParaRPr sz="4200" b="1" dirty="0">
              <a:solidFill>
                <a:srgbClr val="142644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763947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1324</Words>
  <Application>Microsoft Office PowerPoint</Application>
  <PresentationFormat>宽屏</PresentationFormat>
  <Paragraphs>311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Microsoft YaHei</vt:lpstr>
      <vt:lpstr>Microsoft YaHei</vt:lpstr>
      <vt:lpstr>Arial</vt:lpstr>
      <vt:lpstr>Calibri</vt:lpstr>
      <vt:lpstr>Cambria Math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Cathy</dc:creator>
  <cp:keywords/>
  <dc:description>generated using python-pptx</dc:description>
  <cp:lastModifiedBy>小康 immortal</cp:lastModifiedBy>
  <cp:revision>23</cp:revision>
  <dcterms:created xsi:type="dcterms:W3CDTF">2013-01-27T09:14:16Z</dcterms:created>
  <dcterms:modified xsi:type="dcterms:W3CDTF">2026-07-30T16:11:43Z</dcterms:modified>
  <cp:category/>
</cp:coreProperties>
</file>